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drawings/drawing2.xml" ContentType="application/vnd.openxmlformats-officedocument.drawingml.chartshapes+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85" r:id="rId3"/>
    <p:sldId id="275" r:id="rId4"/>
    <p:sldId id="258" r:id="rId5"/>
    <p:sldId id="272" r:id="rId6"/>
    <p:sldId id="293" r:id="rId7"/>
    <p:sldId id="276" r:id="rId8"/>
    <p:sldId id="265" r:id="rId9"/>
    <p:sldId id="290" r:id="rId10"/>
    <p:sldId id="286"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61697" autoAdjust="0"/>
  </p:normalViewPr>
  <p:slideViewPr>
    <p:cSldViewPr snapToGrid="0">
      <p:cViewPr varScale="1">
        <p:scale>
          <a:sx n="39" d="100"/>
          <a:sy n="39" d="100"/>
        </p:scale>
        <p:origin x="1708" y="28"/>
      </p:cViewPr>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Users\hhond\source\repos\simind_study\cps_per_mbq_to_bq_per_ml.ods"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C:\Users\hhond\source\repos\simind_study\cps_per_mbq_to_bq_per_ml.xlsx"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400"/>
            </a:pPr>
            <a:r>
              <a:rPr lang="en-US" sz="14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drawings/drawing1.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559C42-A429-47D2-BAD0-5054FBA5FBCA}" type="datetimeFigureOut">
              <a:rPr kumimoji="1" lang="ja-JP" altLang="en-US" smtClean="0"/>
              <a:t>2024/10/29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4F2A14-61EB-415A-BAFD-914A8086F740}" type="slidenum">
              <a:rPr kumimoji="1" lang="ja-JP" altLang="en-US" smtClean="0"/>
              <a:t>‹#›</a:t>
            </a:fld>
            <a:endParaRPr kumimoji="1" lang="ja-JP" altLang="en-US"/>
          </a:p>
        </p:txBody>
      </p:sp>
    </p:spTree>
    <p:extLst>
      <p:ext uri="{BB962C8B-B14F-4D97-AF65-F5344CB8AC3E}">
        <p14:creationId xmlns:p14="http://schemas.microsoft.com/office/powerpoint/2010/main" val="17103590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低エネルギー高分解能コリメータとヨウ素</a:t>
            </a:r>
            <a:r>
              <a:rPr kumimoji="1" lang="en-US" altLang="ja-JP" dirty="0"/>
              <a:t>123</a:t>
            </a:r>
            <a:r>
              <a:rPr kumimoji="1" lang="ja-JP" altLang="en-US" dirty="0"/>
              <a:t>の組み合わせ測定を行った場合、スライド右側に示すように、わずかに発生する高エネルギー光子が散乱などして</a:t>
            </a:r>
            <a:r>
              <a:rPr kumimoji="1" lang="en-US" altLang="ja-JP" dirty="0"/>
              <a:t>159kev</a:t>
            </a:r>
            <a:r>
              <a:rPr kumimoji="1" lang="ja-JP" altLang="en-US" dirty="0"/>
              <a:t>の領域に混入し、線量測定における定量を著しく低下させてしまう原因となってしまう。そのため、多くの場合、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次光子成分を補正し、定量性を高めている。つまり、</a:t>
            </a:r>
            <a:r>
              <a:rPr kumimoji="1" lang="en-US" altLang="ja-JP" dirty="0"/>
              <a:t>triple-energy-window</a:t>
            </a:r>
            <a:r>
              <a:rPr kumimoji="1" lang="ja-JP" altLang="en-US" dirty="0"/>
              <a:t>法の設定は線量測定の定量性において重要な要素となっている。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a:t>
            </a:fld>
            <a:endParaRPr kumimoji="1" lang="ja-JP" altLang="en-US"/>
          </a:p>
        </p:txBody>
      </p:sp>
    </p:spTree>
    <p:extLst>
      <p:ext uri="{BB962C8B-B14F-4D97-AF65-F5344CB8AC3E}">
        <p14:creationId xmlns:p14="http://schemas.microsoft.com/office/powerpoint/2010/main" val="12856449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そこで、我々は、低エネルギー高分解能コリメータと</a:t>
            </a:r>
            <a:r>
              <a:rPr kumimoji="1" lang="en-US" altLang="ja-JP" dirty="0"/>
              <a:t>i-123</a:t>
            </a:r>
            <a:r>
              <a:rPr kumimoji="1" lang="ja-JP" altLang="en-US" dirty="0"/>
              <a:t>の組み合わせにおける線量測定で、</a:t>
            </a:r>
            <a:r>
              <a:rPr kumimoji="1" lang="en-US" altLang="ja-JP" dirty="0"/>
              <a:t>triple-energy-window</a:t>
            </a:r>
            <a:r>
              <a:rPr kumimoji="1" lang="ja-JP" altLang="en-US" dirty="0"/>
              <a:t>法の設定が、放射能量とカウント</a:t>
            </a:r>
            <a:r>
              <a:rPr kumimoji="1" lang="ja-JP" altLang="en-US"/>
              <a:t>の校正係数キャリブレーションファクタの測定や、</a:t>
            </a:r>
            <a:r>
              <a:rPr kumimoji="1" lang="ja-JP" altLang="en-US" dirty="0"/>
              <a:t>実際の線量測定に及ぼす影響をモンテカルロシミュレーションを用いて評価することを目的としました。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4</a:t>
            </a:fld>
            <a:endParaRPr kumimoji="1" lang="ja-JP" altLang="en-US"/>
          </a:p>
        </p:txBody>
      </p:sp>
    </p:spTree>
    <p:extLst>
      <p:ext uri="{BB962C8B-B14F-4D97-AF65-F5344CB8AC3E}">
        <p14:creationId xmlns:p14="http://schemas.microsoft.com/office/powerpoint/2010/main" val="32603374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使用機器は、</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モンテカルロシミュレーションコードには</a:t>
            </a:r>
            <a:r>
              <a:rPr kumimoji="1" lang="en-US" altLang="ja-JP" dirty="0"/>
              <a:t>SIMIND</a:t>
            </a:r>
            <a:r>
              <a:rPr kumimoji="1" lang="ja-JP" altLang="en-US" dirty="0"/>
              <a:t>コードを使用して、シーメンス社製</a:t>
            </a:r>
            <a:r>
              <a:rPr kumimoji="1" lang="en-US" altLang="ja-JP" dirty="0"/>
              <a:t>SymbiaT16</a:t>
            </a:r>
            <a:r>
              <a:rPr kumimoji="1" lang="ja-JP" altLang="en-US" dirty="0"/>
              <a:t>と低エネルギー高分解能コリメータを構築した。核種はヨウ素</a:t>
            </a:r>
            <a:r>
              <a:rPr kumimoji="1" lang="en-US" altLang="ja-JP" dirty="0"/>
              <a:t>123</a:t>
            </a:r>
            <a:r>
              <a:rPr kumimoji="1" lang="ja-JP" altLang="en-US" dirty="0"/>
              <a:t>とした。</a:t>
            </a:r>
            <a:endParaRPr kumimoji="1" lang="en-US" altLang="ja-JP" dirty="0"/>
          </a:p>
          <a:p>
            <a:r>
              <a:rPr kumimoji="1" lang="ja-JP" altLang="en-US" dirty="0"/>
              <a:t>収集条件について、</a:t>
            </a:r>
            <a:endParaRPr kumimoji="1" lang="en-US" altLang="ja-JP" dirty="0"/>
          </a:p>
          <a:p>
            <a:r>
              <a:rPr kumimoji="1" lang="ja-JP" altLang="en-US" dirty="0"/>
              <a:t>今回の検討で用いた</a:t>
            </a:r>
            <a:r>
              <a:rPr kumimoji="1" lang="en-US" altLang="ja-JP" dirty="0"/>
              <a:t>triple-energy-window</a:t>
            </a:r>
            <a:r>
              <a:rPr kumimoji="1" lang="ja-JP" altLang="en-US" dirty="0"/>
              <a:t>の設定は、メインウィンドウを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種類とし、サブウィンドウの設定を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そのほかの条件はスライドの通りである。</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5</a:t>
            </a:fld>
            <a:endParaRPr kumimoji="1" lang="ja-JP" altLang="en-US"/>
          </a:p>
        </p:txBody>
      </p:sp>
    </p:spTree>
    <p:extLst>
      <p:ext uri="{BB962C8B-B14F-4D97-AF65-F5344CB8AC3E}">
        <p14:creationId xmlns:p14="http://schemas.microsoft.com/office/powerpoint/2010/main" val="37325783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FF93A-F6CD-894B-1184-14C80EFD17E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5113E15-5FDF-D537-DB9D-9BDB22C64F6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BA7907-ADBF-CAA7-C375-5A6D4C015431}"/>
              </a:ext>
            </a:extLst>
          </p:cNvPr>
          <p:cNvSpPr>
            <a:spLocks noGrp="1"/>
          </p:cNvSpPr>
          <p:nvPr>
            <p:ph type="body" idx="1"/>
          </p:nvPr>
        </p:nvSpPr>
        <p:spPr/>
        <p:txBody>
          <a:bodyPr/>
          <a:lstStyle/>
          <a:p>
            <a:r>
              <a:rPr kumimoji="1" lang="en-US" altLang="ja-JP" dirty="0"/>
              <a:t>Tew</a:t>
            </a:r>
            <a:r>
              <a:rPr kumimoji="1" lang="ja-JP" altLang="en-US" dirty="0"/>
              <a:t>がキャリブレーションファクターに及ぼす影響を評価する方法は、各</a:t>
            </a:r>
            <a:r>
              <a:rPr kumimoji="1" lang="en-US" altLang="ja-JP" dirty="0"/>
              <a:t>TEW</a:t>
            </a:r>
            <a:r>
              <a:rPr kumimoji="1" lang="ja-JP" altLang="en-US" dirty="0"/>
              <a:t>設定において１</a:t>
            </a:r>
            <a:r>
              <a:rPr kumimoji="1" lang="en-US" altLang="ja-JP" dirty="0"/>
              <a:t>MB</a:t>
            </a:r>
            <a:r>
              <a:rPr kumimoji="1" lang="ja-JP" altLang="en-US" dirty="0"/>
              <a:t>ｑの点線源を</a:t>
            </a:r>
            <a:r>
              <a:rPr kumimoji="1" lang="en-US" altLang="ja-JP" dirty="0"/>
              <a:t>SPECT</a:t>
            </a:r>
            <a:r>
              <a:rPr kumimoji="1" lang="ja-JP" altLang="en-US" dirty="0"/>
              <a:t>収集するシミュレーションを行い、投影データを取得した。そして、その投影データに対して、散乱、分解能補正を組み込んだ</a:t>
            </a:r>
            <a:r>
              <a:rPr kumimoji="1" lang="en-US" altLang="ja-JP" dirty="0"/>
              <a:t>OSEM</a:t>
            </a:r>
            <a:r>
              <a:rPr kumimoji="1" lang="ja-JP" altLang="en-US" dirty="0"/>
              <a:t>法で再構成し、点線源に対して半径</a:t>
            </a:r>
            <a:r>
              <a:rPr kumimoji="1" lang="en-US" altLang="ja-JP" dirty="0"/>
              <a:t>3㎝</a:t>
            </a:r>
            <a:r>
              <a:rPr kumimoji="1" lang="ja-JP" altLang="en-US" dirty="0"/>
              <a:t>の球体状の関心領域を設定しカウントを測定した。これらのデータと比較するために、投影データから一次光子のみを抽出し、真の値として画像作成した。そして、各ウィンドウ設定と比較し相対誤差を求めた。</a:t>
            </a:r>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3BBCA261-55C5-C198-5622-E68E99104FDE}"/>
              </a:ext>
            </a:extLst>
          </p:cNvPr>
          <p:cNvSpPr>
            <a:spLocks noGrp="1"/>
          </p:cNvSpPr>
          <p:nvPr>
            <p:ph type="sldNum" sz="quarter" idx="5"/>
          </p:nvPr>
        </p:nvSpPr>
        <p:spPr/>
        <p:txBody>
          <a:bodyPr/>
          <a:lstStyle/>
          <a:p>
            <a:fld id="{CB4F2A14-61EB-415A-BAFD-914A8086F740}" type="slidenum">
              <a:rPr kumimoji="1" lang="ja-JP" altLang="en-US" smtClean="0"/>
              <a:t>6</a:t>
            </a:fld>
            <a:endParaRPr kumimoji="1" lang="ja-JP" altLang="en-US"/>
          </a:p>
        </p:txBody>
      </p:sp>
    </p:spTree>
    <p:extLst>
      <p:ext uri="{BB962C8B-B14F-4D97-AF65-F5344CB8AC3E}">
        <p14:creationId xmlns:p14="http://schemas.microsoft.com/office/powerpoint/2010/main" val="14550092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TEW</a:t>
            </a:r>
            <a:r>
              <a:rPr kumimoji="1" lang="ja-JP" altLang="en-US" dirty="0"/>
              <a:t>が線量測定に及ぼす影響を評価する方法は、スライドに示すような円柱ファントムに全体で</a:t>
            </a:r>
            <a:r>
              <a:rPr kumimoji="1" lang="en-US" altLang="ja-JP" dirty="0"/>
              <a:t>50MB</a:t>
            </a:r>
            <a:r>
              <a:rPr kumimoji="1" lang="ja-JP" altLang="en-US" dirty="0"/>
              <a:t>ｑとなるようにアイソトープを入れて</a:t>
            </a:r>
            <a:r>
              <a:rPr kumimoji="1" lang="en-US" altLang="ja-JP" dirty="0"/>
              <a:t>SPECT</a:t>
            </a:r>
            <a:r>
              <a:rPr kumimoji="1" lang="ja-JP" altLang="en-US" dirty="0"/>
              <a:t>収集をシミュレーションし投影データを取得した。そして、各</a:t>
            </a:r>
            <a:r>
              <a:rPr kumimoji="1" lang="en-US" altLang="ja-JP" dirty="0"/>
              <a:t>tew</a:t>
            </a:r>
            <a:r>
              <a:rPr kumimoji="1" lang="ja-JP" altLang="en-US" dirty="0"/>
              <a:t>の投影データを散乱、吸収、分解能補正を組み込んだ</a:t>
            </a:r>
            <a:r>
              <a:rPr kumimoji="1" lang="en-US" altLang="ja-JP" dirty="0"/>
              <a:t>OSEM</a:t>
            </a:r>
            <a:r>
              <a:rPr kumimoji="1" lang="ja-JP" altLang="en-US" dirty="0"/>
              <a:t>法で再構成し線量測定用の画像を作成した。今回の検討ではファントム内に配置した個々の球体の放射能量ではなく円柱ファントム全体の放射能量を測定することにしたため、円柱ファントムに対して関心領域を設定し線量を求め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7</a:t>
            </a:fld>
            <a:endParaRPr kumimoji="1" lang="ja-JP" altLang="en-US"/>
          </a:p>
        </p:txBody>
      </p:sp>
    </p:spTree>
    <p:extLst>
      <p:ext uri="{BB962C8B-B14F-4D97-AF65-F5344CB8AC3E}">
        <p14:creationId xmlns:p14="http://schemas.microsoft.com/office/powerpoint/2010/main" val="21674880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結果</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キャリブレーションファクタに及ぼす影響はメインウィンドウが小さいほど、かつサブウィンドウが小さい</a:t>
            </a:r>
            <a:r>
              <a:rPr kumimoji="1" lang="en-US" altLang="ja-JP" dirty="0"/>
              <a:t>15%±5%</a:t>
            </a:r>
            <a:r>
              <a:rPr kumimoji="1" lang="ja-JP" altLang="en-US" dirty="0"/>
              <a:t>のウィンドウ設定が最も誤差が小さくなった。しかし、円柱ファントムによる線量測定では、キャリブレーションファクタの場合と異なり、サブウィンドウが大きい、</a:t>
            </a:r>
            <a:r>
              <a:rPr kumimoji="1" lang="en-US" altLang="ja-JP" dirty="0"/>
              <a:t>15%±15%</a:t>
            </a:r>
            <a:r>
              <a:rPr kumimoji="1" lang="ja-JP" altLang="en-US" dirty="0"/>
              <a:t>で最も誤差が小さくなった。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8</a:t>
            </a:fld>
            <a:endParaRPr kumimoji="1" lang="ja-JP" altLang="en-US"/>
          </a:p>
        </p:txBody>
      </p:sp>
    </p:spTree>
    <p:extLst>
      <p:ext uri="{BB962C8B-B14F-4D97-AF65-F5344CB8AC3E}">
        <p14:creationId xmlns:p14="http://schemas.microsoft.com/office/powerpoint/2010/main" val="40574028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97CF8-8CE2-BE5A-379B-98B5A0F00F4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ED97C5-BE25-937D-E21F-F396A4CE88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509126-973F-05F0-1DAF-E1BF870613EF}"/>
              </a:ext>
            </a:extLst>
          </p:cNvPr>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なぜ、キャリブレーションファクター取得時には設定ウィンドウ</a:t>
            </a:r>
            <a:r>
              <a:rPr kumimoji="1" lang="en-US" altLang="ja-JP" dirty="0"/>
              <a:t>15%±</a:t>
            </a:r>
            <a:r>
              <a:rPr kumimoji="1" lang="ja-JP" altLang="en-US" dirty="0"/>
              <a:t>５</a:t>
            </a:r>
            <a:r>
              <a:rPr kumimoji="1" lang="en-US" altLang="ja-JP" dirty="0"/>
              <a:t>%</a:t>
            </a:r>
            <a:r>
              <a:rPr kumimoji="1" lang="ja-JP" altLang="en-US" dirty="0"/>
              <a:t>が最も誤差が小さくなったのに対して、実際の線量測定では</a:t>
            </a:r>
            <a:r>
              <a:rPr kumimoji="1" lang="en-US" altLang="ja-JP" dirty="0"/>
              <a:t>15%±15%</a:t>
            </a:r>
            <a:r>
              <a:rPr kumimoji="1" lang="ja-JP" altLang="en-US" dirty="0"/>
              <a:t>の設定ウィンドウが最も小さくなったか？</a:t>
            </a:r>
            <a:endParaRPr kumimoji="1" lang="en-US" altLang="ja-JP" dirty="0"/>
          </a:p>
          <a:p>
            <a:endParaRPr kumimoji="1" lang="en-US" altLang="ja-JP" dirty="0"/>
          </a:p>
          <a:p>
            <a:endParaRPr kumimoji="1" lang="en-US" altLang="ja-JP" dirty="0"/>
          </a:p>
          <a:p>
            <a:r>
              <a:rPr kumimoji="1" lang="ja-JP" altLang="en-US" dirty="0"/>
              <a:t>スライドにキャリブレーションファクター取得時のエネルギースペクトのグラフと各ウィンドウ設定における散乱除去成分を示した台形成分を重ねたグラフを表示する。</a:t>
            </a:r>
            <a:endParaRPr kumimoji="1" lang="en-US" altLang="ja-JP" dirty="0"/>
          </a:p>
          <a:p>
            <a:endParaRPr kumimoji="1" lang="en-US" altLang="ja-JP" dirty="0"/>
          </a:p>
          <a:p>
            <a:r>
              <a:rPr kumimoji="1" lang="ja-JP" altLang="en-US" dirty="0"/>
              <a:t>まず、メインウィンドウが小さいほど誤差が小さくなった要因として、</a:t>
            </a:r>
            <a:endParaRPr kumimoji="1" lang="en-US" altLang="ja-JP" dirty="0"/>
          </a:p>
          <a:p>
            <a:r>
              <a:rPr kumimoji="1" lang="ja-JP" altLang="en-US" dirty="0"/>
              <a:t>一次光子と同じエネルギー帯域に存在するコリメータを貫通する光子の影響が考えれる。つまり、メインウィンドウの幅を大きくすれば、一次光子の量も増えるが、それと同時にコリメータを貫通する光子の量も増加し誤差の要因となる。結果、メインウィンドウが小さいほど誤差が小さくなったと考えられる。</a:t>
            </a:r>
            <a:endParaRPr kumimoji="1" lang="en-US" altLang="ja-JP" dirty="0"/>
          </a:p>
          <a:p>
            <a:r>
              <a:rPr kumimoji="1" lang="ja-JP" altLang="en-US" dirty="0"/>
              <a:t>では、キャリブレーションファクタにおいて、サブウィンドウが小さいほうが誤差が小さくなった要因は、</a:t>
            </a:r>
            <a:endParaRPr kumimoji="1" lang="en-US" altLang="ja-JP" dirty="0"/>
          </a:p>
          <a:p>
            <a:r>
              <a:rPr kumimoji="1" lang="ja-JP" altLang="en-US" dirty="0"/>
              <a:t>サブウィンドウの幅を小さくすると、</a:t>
            </a:r>
            <a:r>
              <a:rPr kumimoji="1" lang="en-US" altLang="ja-JP" dirty="0"/>
              <a:t>tew</a:t>
            </a:r>
            <a:r>
              <a:rPr kumimoji="1" lang="ja-JP" altLang="en-US" dirty="0"/>
              <a:t>の対象であるコンプトン散乱の量よりも補正量が大きくなることが分かった。本来、過補正になれば誤差はマイナスとなるが、そうならなかったのは補正の対象とならないコリメータを貫通する光子の成分をあたかも補正したかのようになったためと考える。</a:t>
            </a:r>
            <a:endParaRPr kumimoji="1" lang="en-US" altLang="ja-JP" dirty="0"/>
          </a:p>
          <a:p>
            <a:r>
              <a:rPr kumimoji="1" lang="ja-JP" altLang="en-US" dirty="0"/>
              <a:t>以上の結果より、メインウィンドウとサブウィンドウのどちらも小さい</a:t>
            </a:r>
            <a:r>
              <a:rPr kumimoji="1" lang="en-US" altLang="ja-JP" dirty="0"/>
              <a:t>15%±5%</a:t>
            </a:r>
            <a:r>
              <a:rPr kumimoji="1" lang="ja-JP" altLang="en-US" dirty="0"/>
              <a:t>がキャリブレーションファクタを取得する際、最も誤差の少ない結果になったと考える。</a:t>
            </a:r>
            <a:endParaRPr kumimoji="1" lang="en-US" altLang="ja-JP" dirty="0"/>
          </a:p>
          <a:p>
            <a:endParaRPr kumimoji="1" lang="en-US" altLang="ja-JP" dirty="0"/>
          </a:p>
          <a:p>
            <a:r>
              <a:rPr kumimoji="1" lang="ja-JP" altLang="en-US" dirty="0"/>
              <a:t>しかし実際の線量測定で</a:t>
            </a:r>
            <a:r>
              <a:rPr kumimoji="1" lang="en-US" altLang="ja-JP" dirty="0"/>
              <a:t>15%±15%</a:t>
            </a:r>
            <a:r>
              <a:rPr kumimoji="1" lang="ja-JP" altLang="en-US" dirty="0"/>
              <a:t>が最も誤差が少なくなった要因として、コリメータを貫通する光子の影響が考えられる。</a:t>
            </a:r>
            <a:endParaRPr kumimoji="1" lang="en-US" altLang="ja-JP" dirty="0"/>
          </a:p>
          <a:p>
            <a:r>
              <a:rPr kumimoji="1" lang="ja-JP" altLang="en-US" dirty="0"/>
              <a:t>スライド右側に、コリメータを貫通した光子のみで作成した画像を提示するが、コリメータを貫通した光子はスター状に画像全体に分布しているが、キャリブレーションファクタを取得するために我々は点線源に対して</a:t>
            </a:r>
            <a:r>
              <a:rPr kumimoji="1" lang="en-US" altLang="ja-JP" dirty="0"/>
              <a:t>3㎝</a:t>
            </a:r>
            <a:r>
              <a:rPr kumimoji="1" lang="ja-JP" altLang="en-US" dirty="0"/>
              <a:t>の球状の関心領域を設定し、カウントを測定した。そのため、全てのコリメータを貫通する光子を考慮していないのに対して、円柱ファントムではあらゆる点において複雑に貫通光子の影響が出てくる。</a:t>
            </a:r>
            <a:endParaRPr kumimoji="1" lang="en-US" altLang="ja-JP" dirty="0"/>
          </a:p>
          <a:p>
            <a:r>
              <a:rPr kumimoji="1" lang="ja-JP" altLang="en-US" dirty="0"/>
              <a:t>設定ウィンドウ</a:t>
            </a:r>
            <a:r>
              <a:rPr kumimoji="1" lang="en-US" altLang="ja-JP" dirty="0"/>
              <a:t>15%±5%</a:t>
            </a:r>
            <a:r>
              <a:rPr kumimoji="1" lang="ja-JP" altLang="en-US" dirty="0"/>
              <a:t>では貫通光子の影響のないキャリブレーションファクターで貫通光子の影響のある円柱ファントムの線量を測定しているのに対して、</a:t>
            </a:r>
            <a:r>
              <a:rPr kumimoji="1" lang="en-US" altLang="ja-JP" dirty="0"/>
              <a:t>15</a:t>
            </a:r>
            <a:r>
              <a:rPr kumimoji="1" lang="ja-JP" altLang="en-US" dirty="0"/>
              <a:t>％</a:t>
            </a:r>
            <a:r>
              <a:rPr kumimoji="1" lang="en-US" altLang="ja-JP" dirty="0"/>
              <a:t>±15</a:t>
            </a:r>
            <a:r>
              <a:rPr kumimoji="1" lang="ja-JP" altLang="en-US" dirty="0"/>
              <a:t>％では貫通光子をある程度加味したキャリブレーションファクターで円柱ファントムの線量を測定しているため、より精度を高く測定できたと考える。</a:t>
            </a:r>
            <a:endParaRPr kumimoji="1" lang="en-US" altLang="ja-JP" dirty="0"/>
          </a:p>
          <a:p>
            <a:endParaRPr kumimoji="1" lang="en-US" altLang="ja-JP" dirty="0"/>
          </a:p>
          <a:p>
            <a:endParaRPr kumimoji="1" lang="en-US" altLang="ja-JP" dirty="0"/>
          </a:p>
          <a:p>
            <a:r>
              <a:rPr kumimoji="1" lang="ja-JP" altLang="en-US" dirty="0"/>
              <a:t>今回、キャリブレーションファクターを</a:t>
            </a:r>
            <a:r>
              <a:rPr kumimoji="1" lang="en-US" altLang="ja-JP" dirty="0"/>
              <a:t>1MBq</a:t>
            </a:r>
            <a:r>
              <a:rPr kumimoji="1" lang="ja-JP" altLang="en-US" dirty="0"/>
              <a:t>あたりのカウントの逆数であり、補正量の大きい</a:t>
            </a:r>
            <a:r>
              <a:rPr kumimoji="1" lang="en-US" altLang="ja-JP" dirty="0"/>
              <a:t>15%±5%</a:t>
            </a:r>
            <a:r>
              <a:rPr kumimoji="1" lang="ja-JP" altLang="en-US" dirty="0"/>
              <a:t>は</a:t>
            </a:r>
            <a:r>
              <a:rPr kumimoji="1" lang="en-US" altLang="ja-JP" dirty="0"/>
              <a:t>1MBq</a:t>
            </a:r>
            <a:r>
              <a:rPr kumimoji="1" lang="ja-JP" altLang="en-US" dirty="0"/>
              <a:t>あたりのカウントは他のウィンドウ設定より小さくなる。そのためキャリブレーションファクターは大きくなる。</a:t>
            </a:r>
            <a:endParaRPr kumimoji="1" lang="en-US" altLang="ja-JP" dirty="0"/>
          </a:p>
          <a:p>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A3A706EE-D91E-4A97-02FF-608683D6D3DC}"/>
              </a:ext>
            </a:extLst>
          </p:cNvPr>
          <p:cNvSpPr>
            <a:spLocks noGrp="1"/>
          </p:cNvSpPr>
          <p:nvPr>
            <p:ph type="sldNum" sz="quarter" idx="5"/>
          </p:nvPr>
        </p:nvSpPr>
        <p:spPr/>
        <p:txBody>
          <a:bodyPr/>
          <a:lstStyle/>
          <a:p>
            <a:fld id="{CB4F2A14-61EB-415A-BAFD-914A8086F740}" type="slidenum">
              <a:rPr kumimoji="1" lang="ja-JP" altLang="en-US" smtClean="0"/>
              <a:t>9</a:t>
            </a:fld>
            <a:endParaRPr kumimoji="1" lang="ja-JP" altLang="en-US"/>
          </a:p>
        </p:txBody>
      </p:sp>
    </p:spTree>
    <p:extLst>
      <p:ext uri="{BB962C8B-B14F-4D97-AF65-F5344CB8AC3E}">
        <p14:creationId xmlns:p14="http://schemas.microsoft.com/office/powerpoint/2010/main" val="28007810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今回、低エネルギー高分解能コリメータと</a:t>
            </a:r>
            <a:r>
              <a:rPr kumimoji="1" lang="en-US" altLang="ja-JP" dirty="0"/>
              <a:t>I123</a:t>
            </a:r>
            <a:r>
              <a:rPr kumimoji="1" lang="ja-JP" altLang="en-US" dirty="0"/>
              <a:t>の組み合わせによる線量測定における</a:t>
            </a:r>
            <a:r>
              <a:rPr kumimoji="1" lang="en-US" altLang="ja-JP" dirty="0"/>
              <a:t>triple-energy-window</a:t>
            </a:r>
            <a:r>
              <a:rPr kumimoji="1" lang="ja-JP" altLang="en-US" dirty="0"/>
              <a:t>法の設定が定量性に及ぼす影響を調査した。</a:t>
            </a:r>
            <a:endParaRPr kumimoji="1" lang="en-US" altLang="ja-JP" dirty="0"/>
          </a:p>
          <a:p>
            <a:r>
              <a:rPr kumimoji="1" lang="ja-JP" altLang="en-US" dirty="0"/>
              <a:t>今回の調査では、点線源を</a:t>
            </a:r>
            <a:r>
              <a:rPr kumimoji="1" lang="en-US" altLang="ja-JP" dirty="0"/>
              <a:t>SPECT</a:t>
            </a:r>
            <a:r>
              <a:rPr kumimoji="1" lang="ja-JP" altLang="en-US" dirty="0"/>
              <a:t>収集してキャリブレーションファクターを求める際、メインウィンドウ</a:t>
            </a:r>
            <a:r>
              <a:rPr kumimoji="1" lang="en-US" altLang="ja-JP" dirty="0"/>
              <a:t>15%</a:t>
            </a:r>
            <a:r>
              <a:rPr kumimoji="1" lang="ja-JP" altLang="en-US" dirty="0"/>
              <a:t>サブウィンドウ</a:t>
            </a:r>
            <a:r>
              <a:rPr kumimoji="1" lang="en-US" altLang="ja-JP" dirty="0"/>
              <a:t>5%</a:t>
            </a:r>
            <a:r>
              <a:rPr kumimoji="1" lang="ja-JP" altLang="en-US" dirty="0"/>
              <a:t>の設定で求めると真値に対し最も誤差の少ない値を得ることができたが、これは散乱線を過補正したことにより、</a:t>
            </a:r>
            <a:r>
              <a:rPr kumimoji="1" lang="en-US" altLang="ja-JP" dirty="0"/>
              <a:t>triple-energy-window</a:t>
            </a:r>
            <a:r>
              <a:rPr kumimoji="1" lang="ja-JP" altLang="en-US" dirty="0"/>
              <a:t>法では補正できない貫通光子成分をあたかも補正したことによる影響であることが分かった。</a:t>
            </a:r>
            <a:endParaRPr kumimoji="1" lang="en-US" altLang="ja-JP" dirty="0"/>
          </a:p>
          <a:p>
            <a:r>
              <a:rPr kumimoji="1" lang="ja-JP" altLang="en-US" dirty="0"/>
              <a:t>実際の線量測定において定量誤差を少なくするためには、メインウィンドウ</a:t>
            </a:r>
            <a:r>
              <a:rPr kumimoji="1" lang="en-US" altLang="ja-JP" dirty="0"/>
              <a:t>15</a:t>
            </a:r>
            <a:r>
              <a:rPr kumimoji="1" lang="ja-JP" altLang="en-US" dirty="0"/>
              <a:t>％サブウィンドウ</a:t>
            </a:r>
            <a:r>
              <a:rPr kumimoji="1" lang="en-US" altLang="ja-JP" dirty="0"/>
              <a:t>15</a:t>
            </a:r>
            <a:r>
              <a:rPr kumimoji="1" lang="ja-JP" altLang="en-US" dirty="0"/>
              <a:t>％設定が最も定量誤差が少なくなった。これは実際の線量測定では、広範囲にわたる貫通光子成分の影響を加味する必要があったため。</a:t>
            </a:r>
            <a:endParaRPr kumimoji="1" lang="en-US" altLang="ja-JP" dirty="0"/>
          </a:p>
          <a:p>
            <a:r>
              <a:rPr kumimoji="1" lang="ja-JP" altLang="en-US" dirty="0"/>
              <a:t>しかし、全てのウィンドウ設定において、</a:t>
            </a:r>
            <a:r>
              <a:rPr kumimoji="1" lang="en-US" altLang="ja-JP" dirty="0"/>
              <a:t>10</a:t>
            </a:r>
            <a:r>
              <a:rPr kumimoji="1" lang="ja-JP" altLang="en-US" dirty="0"/>
              <a:t>％を超える定量誤差があり、この誤差をより小さくするためには貫通光子成分の補正が重要であることが分かった。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10</a:t>
            </a:fld>
            <a:endParaRPr kumimoji="1" lang="ja-JP" altLang="en-US"/>
          </a:p>
        </p:txBody>
      </p:sp>
    </p:spTree>
    <p:extLst>
      <p:ext uri="{BB962C8B-B14F-4D97-AF65-F5344CB8AC3E}">
        <p14:creationId xmlns:p14="http://schemas.microsoft.com/office/powerpoint/2010/main" val="607204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176A1B-B88D-C74D-7B8F-3479385EE8C1}"/>
              </a:ext>
            </a:extLst>
          </p:cNvPr>
          <p:cNvSpPr>
            <a:spLocks noGrp="1"/>
          </p:cNvSpPr>
          <p:nvPr>
            <p:ph type="ctrTitle"/>
          </p:nvPr>
        </p:nvSpPr>
        <p:spPr>
          <a:xfrm>
            <a:off x="1524000" y="1122363"/>
            <a:ext cx="9144000" cy="2387600"/>
          </a:xfrm>
          <a:ln>
            <a:noFill/>
          </a:ln>
        </p:spPr>
        <p:txBody>
          <a:bodyPr anchor="b"/>
          <a:lstStyle>
            <a:lvl1pPr algn="ctr">
              <a:defRPr sz="6000">
                <a:solidFill>
                  <a:schemeClr val="bg1"/>
                </a:solidFill>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13C0B960-E405-4E70-890D-9D407BEC42FC}"/>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113B01B-5642-206B-1F29-D71F3B812988}"/>
              </a:ext>
            </a:extLst>
          </p:cNvPr>
          <p:cNvSpPr>
            <a:spLocks noGrp="1"/>
          </p:cNvSpPr>
          <p:nvPr>
            <p:ph type="dt" sz="half" idx="10"/>
          </p:nvPr>
        </p:nvSpPr>
        <p:spPr/>
        <p:txBody>
          <a:bodyPr/>
          <a:lstStyle>
            <a:lvl1pPr>
              <a:defRPr>
                <a:solidFill>
                  <a:schemeClr val="bg1"/>
                </a:solidFill>
              </a:defRPr>
            </a:lvl1pPr>
          </a:lstStyle>
          <a:p>
            <a:fld id="{F8121DAA-21F6-4952-A04F-13CC3C2FCB3F}" type="datetimeFigureOut">
              <a:rPr lang="ja-JP" altLang="en-US" smtClean="0"/>
              <a:pPr/>
              <a:t>2024/10/29</a:t>
            </a:fld>
            <a:endParaRPr lang="ja-JP" altLang="en-US"/>
          </a:p>
        </p:txBody>
      </p:sp>
      <p:sp>
        <p:nvSpPr>
          <p:cNvPr id="5" name="フッター プレースホルダー 4">
            <a:extLst>
              <a:ext uri="{FF2B5EF4-FFF2-40B4-BE49-F238E27FC236}">
                <a16:creationId xmlns:a16="http://schemas.microsoft.com/office/drawing/2014/main" id="{902EB9A1-068A-6FEF-CB4A-A6188CEB01D4}"/>
              </a:ext>
            </a:extLst>
          </p:cNvPr>
          <p:cNvSpPr>
            <a:spLocks noGrp="1"/>
          </p:cNvSpPr>
          <p:nvPr>
            <p:ph type="ftr" sz="quarter" idx="11"/>
          </p:nvPr>
        </p:nvSpPr>
        <p:spPr/>
        <p:txBody>
          <a:bodyPr/>
          <a:lstStyle>
            <a:lvl1pPr>
              <a:defRPr>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15F50E05-0C7D-8B34-7DA3-487F1AC24B55}"/>
              </a:ext>
            </a:extLst>
          </p:cNvPr>
          <p:cNvSpPr>
            <a:spLocks noGrp="1"/>
          </p:cNvSpPr>
          <p:nvPr>
            <p:ph type="sldNum" sz="quarter" idx="12"/>
          </p:nvPr>
        </p:nvSpPr>
        <p:spPr/>
        <p:txBody>
          <a:bodyPr/>
          <a:lstStyle>
            <a:lvl1pPr>
              <a:defRPr>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2149311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1102D5-EB9B-43A4-0F89-A4FBB2BEC55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EC6F0D6-A4B7-5D1C-9D9D-130896F7678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4E4D234-C8A9-86C7-6F63-DEC58A910364}"/>
              </a:ext>
            </a:extLst>
          </p:cNvPr>
          <p:cNvSpPr>
            <a:spLocks noGrp="1"/>
          </p:cNvSpPr>
          <p:nvPr>
            <p:ph type="dt" sz="half" idx="10"/>
          </p:nvPr>
        </p:nvSpPr>
        <p:spPr/>
        <p:txBody>
          <a:bodyPr/>
          <a:lstStyle/>
          <a:p>
            <a:fld id="{F8121DAA-21F6-4952-A04F-13CC3C2FCB3F}" type="datetimeFigureOut">
              <a:rPr kumimoji="1" lang="ja-JP" altLang="en-US" smtClean="0"/>
              <a:t>2024/10/29</a:t>
            </a:fld>
            <a:endParaRPr kumimoji="1" lang="ja-JP" altLang="en-US"/>
          </a:p>
        </p:txBody>
      </p:sp>
      <p:sp>
        <p:nvSpPr>
          <p:cNvPr id="5" name="フッター プレースホルダー 4">
            <a:extLst>
              <a:ext uri="{FF2B5EF4-FFF2-40B4-BE49-F238E27FC236}">
                <a16:creationId xmlns:a16="http://schemas.microsoft.com/office/drawing/2014/main" id="{B001ECB4-F2C8-0E78-7421-E687368A6E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2EADEE0-C0DB-8268-4780-EABA3A71E83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2236126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81D9AC-4475-6FEA-D984-3E3C1B11CFA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121174-9335-FB08-9810-B811BF29D8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A2DE7C2-C48C-C235-0146-EBEF78165F07}"/>
              </a:ext>
            </a:extLst>
          </p:cNvPr>
          <p:cNvSpPr>
            <a:spLocks noGrp="1"/>
          </p:cNvSpPr>
          <p:nvPr>
            <p:ph type="dt" sz="half" idx="10"/>
          </p:nvPr>
        </p:nvSpPr>
        <p:spPr/>
        <p:txBody>
          <a:bodyPr/>
          <a:lstStyle/>
          <a:p>
            <a:fld id="{F8121DAA-21F6-4952-A04F-13CC3C2FCB3F}" type="datetimeFigureOut">
              <a:rPr kumimoji="1" lang="ja-JP" altLang="en-US" smtClean="0"/>
              <a:t>2024/10/29</a:t>
            </a:fld>
            <a:endParaRPr kumimoji="1" lang="ja-JP" altLang="en-US"/>
          </a:p>
        </p:txBody>
      </p:sp>
      <p:sp>
        <p:nvSpPr>
          <p:cNvPr id="5" name="フッター プレースホルダー 4">
            <a:extLst>
              <a:ext uri="{FF2B5EF4-FFF2-40B4-BE49-F238E27FC236}">
                <a16:creationId xmlns:a16="http://schemas.microsoft.com/office/drawing/2014/main" id="{3EC5EA18-6858-6D8F-1A61-541F569D63C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993CDB5-F15F-F2DD-7DA4-AB2DD94E7D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803978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3AA0CD-403B-2AE1-3FD1-5445F46659B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9D7EAC1-057D-7D28-DA1F-CAAFCFD824D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E042CE9-E552-A0AF-7B11-F87B1A881743}"/>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FCC6EE30-E6FC-537C-F3BF-A76C58CECDB3}"/>
              </a:ext>
            </a:extLst>
          </p:cNvPr>
          <p:cNvSpPr>
            <a:spLocks noGrp="1"/>
          </p:cNvSpPr>
          <p:nvPr>
            <p:ph type="dt" sz="half" idx="10"/>
          </p:nvPr>
        </p:nvSpPr>
        <p:spPr/>
        <p:txBody>
          <a:bodyPr/>
          <a:lstStyle/>
          <a:p>
            <a:fld id="{F8121DAA-21F6-4952-A04F-13CC3C2FCB3F}" type="datetimeFigureOut">
              <a:rPr kumimoji="1" lang="ja-JP" altLang="en-US" smtClean="0"/>
              <a:t>2024/10/29</a:t>
            </a:fld>
            <a:endParaRPr kumimoji="1" lang="ja-JP" altLang="en-US"/>
          </a:p>
        </p:txBody>
      </p:sp>
      <p:sp>
        <p:nvSpPr>
          <p:cNvPr id="6" name="フッター プレースホルダー 5">
            <a:extLst>
              <a:ext uri="{FF2B5EF4-FFF2-40B4-BE49-F238E27FC236}">
                <a16:creationId xmlns:a16="http://schemas.microsoft.com/office/drawing/2014/main" id="{7430D673-2924-5583-C82D-586E24D03D4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F6F8DE5-CC7C-D620-19AA-89FDEDBCF67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75749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3D2707-E69C-0811-DD52-4A684CF05BA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292050A-00D8-D005-C30A-A6413C57D6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7F01891-C43F-DDCA-F9C1-0A313614F47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1C57EFB-77AA-5DCD-7BB1-B4F1F635F7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28F4CEF-BE30-9C72-E91B-94A02CB1BD6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BD504A-4227-F03B-60FC-371CD4FB8BF2}"/>
              </a:ext>
            </a:extLst>
          </p:cNvPr>
          <p:cNvSpPr>
            <a:spLocks noGrp="1"/>
          </p:cNvSpPr>
          <p:nvPr>
            <p:ph type="dt" sz="half" idx="10"/>
          </p:nvPr>
        </p:nvSpPr>
        <p:spPr/>
        <p:txBody>
          <a:bodyPr/>
          <a:lstStyle/>
          <a:p>
            <a:fld id="{F8121DAA-21F6-4952-A04F-13CC3C2FCB3F}" type="datetimeFigureOut">
              <a:rPr kumimoji="1" lang="ja-JP" altLang="en-US" smtClean="0"/>
              <a:t>2024/10/29</a:t>
            </a:fld>
            <a:endParaRPr kumimoji="1" lang="ja-JP" altLang="en-US"/>
          </a:p>
        </p:txBody>
      </p:sp>
      <p:sp>
        <p:nvSpPr>
          <p:cNvPr id="8" name="フッター プレースホルダー 7">
            <a:extLst>
              <a:ext uri="{FF2B5EF4-FFF2-40B4-BE49-F238E27FC236}">
                <a16:creationId xmlns:a16="http://schemas.microsoft.com/office/drawing/2014/main" id="{A28F2939-0B50-B5D9-C674-E46DA533551D}"/>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FD59706-6DE4-E23C-0003-E13926C176C9}"/>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528591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219B78-7967-26C9-D146-47A319CA170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6DC01F4-D610-A11A-0570-B0326BDB3A8A}"/>
              </a:ext>
            </a:extLst>
          </p:cNvPr>
          <p:cNvSpPr>
            <a:spLocks noGrp="1"/>
          </p:cNvSpPr>
          <p:nvPr>
            <p:ph type="dt" sz="half" idx="10"/>
          </p:nvPr>
        </p:nvSpPr>
        <p:spPr/>
        <p:txBody>
          <a:bodyPr/>
          <a:lstStyle/>
          <a:p>
            <a:fld id="{F8121DAA-21F6-4952-A04F-13CC3C2FCB3F}" type="datetimeFigureOut">
              <a:rPr kumimoji="1" lang="ja-JP" altLang="en-US" smtClean="0"/>
              <a:t>2024/10/29</a:t>
            </a:fld>
            <a:endParaRPr kumimoji="1" lang="ja-JP" altLang="en-US"/>
          </a:p>
        </p:txBody>
      </p:sp>
      <p:sp>
        <p:nvSpPr>
          <p:cNvPr id="4" name="フッター プレースホルダー 3">
            <a:extLst>
              <a:ext uri="{FF2B5EF4-FFF2-40B4-BE49-F238E27FC236}">
                <a16:creationId xmlns:a16="http://schemas.microsoft.com/office/drawing/2014/main" id="{A01AD91F-4A02-97F9-098A-978C22EE7B6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D3A3EAF-A79C-3EA2-ECC2-54FDC2DCD3C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4881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145309D-5753-0FDA-21BB-F1489513935D}"/>
              </a:ext>
            </a:extLst>
          </p:cNvPr>
          <p:cNvSpPr>
            <a:spLocks noGrp="1"/>
          </p:cNvSpPr>
          <p:nvPr>
            <p:ph type="dt" sz="half" idx="10"/>
          </p:nvPr>
        </p:nvSpPr>
        <p:spPr/>
        <p:txBody>
          <a:bodyPr/>
          <a:lstStyle/>
          <a:p>
            <a:fld id="{F8121DAA-21F6-4952-A04F-13CC3C2FCB3F}" type="datetimeFigureOut">
              <a:rPr kumimoji="1" lang="ja-JP" altLang="en-US" smtClean="0"/>
              <a:t>2024/10/29</a:t>
            </a:fld>
            <a:endParaRPr kumimoji="1" lang="ja-JP" altLang="en-US"/>
          </a:p>
        </p:txBody>
      </p:sp>
      <p:sp>
        <p:nvSpPr>
          <p:cNvPr id="3" name="フッター プレースホルダー 2">
            <a:extLst>
              <a:ext uri="{FF2B5EF4-FFF2-40B4-BE49-F238E27FC236}">
                <a16:creationId xmlns:a16="http://schemas.microsoft.com/office/drawing/2014/main" id="{F57DA462-43F6-A094-71AF-0B13D72A299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3CF6766-373E-B13A-6B4C-1CB40E3D0D9A}"/>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236288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F19462-7150-4A1F-AAEC-4C86AD45C5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E7CF485-9853-1060-1A34-D6959DE79EC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D1ABC1A-0B3B-804D-73B5-D5D7A5088D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FC14E9-AEC2-D0D1-704D-CDCC42F2E042}"/>
              </a:ext>
            </a:extLst>
          </p:cNvPr>
          <p:cNvSpPr>
            <a:spLocks noGrp="1"/>
          </p:cNvSpPr>
          <p:nvPr>
            <p:ph type="dt" sz="half" idx="10"/>
          </p:nvPr>
        </p:nvSpPr>
        <p:spPr/>
        <p:txBody>
          <a:bodyPr/>
          <a:lstStyle/>
          <a:p>
            <a:fld id="{F8121DAA-21F6-4952-A04F-13CC3C2FCB3F}" type="datetimeFigureOut">
              <a:rPr kumimoji="1" lang="ja-JP" altLang="en-US" smtClean="0"/>
              <a:t>2024/10/29</a:t>
            </a:fld>
            <a:endParaRPr kumimoji="1" lang="ja-JP" altLang="en-US"/>
          </a:p>
        </p:txBody>
      </p:sp>
      <p:sp>
        <p:nvSpPr>
          <p:cNvPr id="6" name="フッター プレースホルダー 5">
            <a:extLst>
              <a:ext uri="{FF2B5EF4-FFF2-40B4-BE49-F238E27FC236}">
                <a16:creationId xmlns:a16="http://schemas.microsoft.com/office/drawing/2014/main" id="{9A2D958F-F89A-B807-AFF1-4ED4E7D945A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C786A73-70DD-2403-52BD-7B06C18B7F68}"/>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1585390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F32F34-FB6C-D939-67B9-E9FE728BB3C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3B145FD-0FA3-4697-B0DC-1591F93A4C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50982FF2-E1EE-03D5-0FCA-AD0DCCF419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21F6F61-C842-648F-73D6-A84B54921403}"/>
              </a:ext>
            </a:extLst>
          </p:cNvPr>
          <p:cNvSpPr>
            <a:spLocks noGrp="1"/>
          </p:cNvSpPr>
          <p:nvPr>
            <p:ph type="dt" sz="half" idx="10"/>
          </p:nvPr>
        </p:nvSpPr>
        <p:spPr/>
        <p:txBody>
          <a:bodyPr/>
          <a:lstStyle/>
          <a:p>
            <a:fld id="{F8121DAA-21F6-4952-A04F-13CC3C2FCB3F}" type="datetimeFigureOut">
              <a:rPr kumimoji="1" lang="ja-JP" altLang="en-US" smtClean="0"/>
              <a:t>2024/10/29</a:t>
            </a:fld>
            <a:endParaRPr kumimoji="1" lang="ja-JP" altLang="en-US"/>
          </a:p>
        </p:txBody>
      </p:sp>
      <p:sp>
        <p:nvSpPr>
          <p:cNvPr id="6" name="フッター プレースホルダー 5">
            <a:extLst>
              <a:ext uri="{FF2B5EF4-FFF2-40B4-BE49-F238E27FC236}">
                <a16:creationId xmlns:a16="http://schemas.microsoft.com/office/drawing/2014/main" id="{F73ADB48-A8B5-C9A8-A380-76350FB7B4F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E09F16E-433C-F395-741A-22F0EA2DF2E5}"/>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71291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FB54E1-E388-BC76-41DD-ED9C41DB63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589FF67-1C36-5429-335C-56A50053CFA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7FF7C34-680E-7D98-0698-67CA1DC0FDE6}"/>
              </a:ext>
            </a:extLst>
          </p:cNvPr>
          <p:cNvSpPr>
            <a:spLocks noGrp="1"/>
          </p:cNvSpPr>
          <p:nvPr>
            <p:ph type="dt" sz="half" idx="10"/>
          </p:nvPr>
        </p:nvSpPr>
        <p:spPr/>
        <p:txBody>
          <a:bodyPr/>
          <a:lstStyle/>
          <a:p>
            <a:fld id="{F8121DAA-21F6-4952-A04F-13CC3C2FCB3F}" type="datetimeFigureOut">
              <a:rPr kumimoji="1" lang="ja-JP" altLang="en-US" smtClean="0"/>
              <a:t>2024/10/29</a:t>
            </a:fld>
            <a:endParaRPr kumimoji="1" lang="ja-JP" altLang="en-US"/>
          </a:p>
        </p:txBody>
      </p:sp>
      <p:sp>
        <p:nvSpPr>
          <p:cNvPr id="5" name="フッター プレースホルダー 4">
            <a:extLst>
              <a:ext uri="{FF2B5EF4-FFF2-40B4-BE49-F238E27FC236}">
                <a16:creationId xmlns:a16="http://schemas.microsoft.com/office/drawing/2014/main" id="{C0CDB764-4931-E61A-F9CB-7DB8F0A31C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F68DF96-CE03-FC78-5180-F7604C41454D}"/>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66970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BFBA04D-B826-64D6-D64C-5F1E0FFD789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6899458-F66D-E1CB-D497-943C84D68B30}"/>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25ED817-6B57-DAFC-8586-F92C4DD7F25F}"/>
              </a:ext>
            </a:extLst>
          </p:cNvPr>
          <p:cNvSpPr>
            <a:spLocks noGrp="1"/>
          </p:cNvSpPr>
          <p:nvPr>
            <p:ph type="dt" sz="half" idx="10"/>
          </p:nvPr>
        </p:nvSpPr>
        <p:spPr/>
        <p:txBody>
          <a:bodyPr/>
          <a:lstStyle/>
          <a:p>
            <a:fld id="{F8121DAA-21F6-4952-A04F-13CC3C2FCB3F}" type="datetimeFigureOut">
              <a:rPr kumimoji="1" lang="ja-JP" altLang="en-US" smtClean="0"/>
              <a:t>2024/10/29</a:t>
            </a:fld>
            <a:endParaRPr kumimoji="1" lang="ja-JP" altLang="en-US"/>
          </a:p>
        </p:txBody>
      </p:sp>
      <p:sp>
        <p:nvSpPr>
          <p:cNvPr id="5" name="フッター プレースホルダー 4">
            <a:extLst>
              <a:ext uri="{FF2B5EF4-FFF2-40B4-BE49-F238E27FC236}">
                <a16:creationId xmlns:a16="http://schemas.microsoft.com/office/drawing/2014/main" id="{6A8CF9D0-E6D2-33D9-2678-7BAD0204F78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9B7F5C-8436-FBE0-D2A8-A01DCD62A3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734397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6CE078C-E779-A123-6D9F-FCAEE86F1B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885FB9C-468C-D220-C9BC-BA4547226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BAA7358-7915-D343-5145-F087E711EA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bg1"/>
                </a:solidFill>
              </a:defRPr>
            </a:lvl1pPr>
          </a:lstStyle>
          <a:p>
            <a:fld id="{F8121DAA-21F6-4952-A04F-13CC3C2FCB3F}" type="datetimeFigureOut">
              <a:rPr lang="ja-JP" altLang="en-US" smtClean="0"/>
              <a:pPr/>
              <a:t>2024/10/29</a:t>
            </a:fld>
            <a:endParaRPr lang="ja-JP" altLang="en-US"/>
          </a:p>
        </p:txBody>
      </p:sp>
      <p:sp>
        <p:nvSpPr>
          <p:cNvPr id="5" name="フッター プレースホルダー 4">
            <a:extLst>
              <a:ext uri="{FF2B5EF4-FFF2-40B4-BE49-F238E27FC236}">
                <a16:creationId xmlns:a16="http://schemas.microsoft.com/office/drawing/2014/main" id="{2FFDBF50-3B4D-9B38-952E-99C0D1CC70B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037F4021-E0A4-B07E-7E21-36D132946A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34141643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gi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gif"/><Relationship Id="rId4" Type="http://schemas.openxmlformats.org/officeDocument/2006/relationships/image" Target="../media/image6.gif"/></Relationships>
</file>

<file path=ppt/slides/_rels/slide7.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chart" Target="../charts/chart2.xml"/><Relationship Id="rId7" Type="http://schemas.openxmlformats.org/officeDocument/2006/relationships/chart" Target="../charts/chart6.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chart" Target="../charts/chart5.xml"/><Relationship Id="rId5" Type="http://schemas.openxmlformats.org/officeDocument/2006/relationships/chart" Target="../charts/chart4.xml"/><Relationship Id="rId4" Type="http://schemas.openxmlformats.org/officeDocument/2006/relationships/chart" Target="../charts/char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0"/>
              </a:schemeClr>
            </a:gs>
            <a:gs pos="23000">
              <a:schemeClr val="accent1">
                <a:lumMod val="50000"/>
              </a:schemeClr>
            </a:gs>
            <a:gs pos="100000">
              <a:srgbClr val="154D7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DA12D6-2E60-5739-B554-63E51B3A7223}"/>
              </a:ext>
            </a:extLst>
          </p:cNvPr>
          <p:cNvSpPr>
            <a:spLocks noGrp="1"/>
          </p:cNvSpPr>
          <p:nvPr>
            <p:ph type="ctrTitle"/>
          </p:nvPr>
        </p:nvSpPr>
        <p:spPr>
          <a:xfrm>
            <a:off x="624114" y="1252991"/>
            <a:ext cx="10943772" cy="2387600"/>
          </a:xfrm>
        </p:spPr>
        <p:txBody>
          <a:bodyPr>
            <a:normAutofit fontScale="90000"/>
          </a:bodyPr>
          <a:lstStyle/>
          <a:p>
            <a:r>
              <a:rPr kumimoji="1" lang="en-US" altLang="ja-JP" b="1" dirty="0"/>
              <a:t>123I</a:t>
            </a:r>
            <a:r>
              <a:rPr kumimoji="1" lang="ja-JP" altLang="en-US" b="1" dirty="0"/>
              <a:t>線量測定における</a:t>
            </a:r>
            <a:br>
              <a:rPr kumimoji="1" lang="en-US" altLang="ja-JP" b="1" dirty="0"/>
            </a:br>
            <a:r>
              <a:rPr kumimoji="1" lang="en-US" altLang="ja-JP" b="1" dirty="0"/>
              <a:t>T</a:t>
            </a:r>
            <a:r>
              <a:rPr lang="en-US" altLang="ja-JP" b="1" dirty="0"/>
              <a:t>riple-Energy-Window</a:t>
            </a:r>
            <a:r>
              <a:rPr lang="ja-JP" altLang="en-US" b="1" dirty="0"/>
              <a:t>法</a:t>
            </a:r>
            <a:r>
              <a:rPr kumimoji="1" lang="ja-JP" altLang="en-US" b="1" dirty="0"/>
              <a:t>の影響</a:t>
            </a:r>
            <a:br>
              <a:rPr kumimoji="1" lang="en-US" altLang="ja-JP" b="1" dirty="0"/>
            </a:br>
            <a:r>
              <a:rPr kumimoji="1" lang="ja-JP" altLang="en-US" sz="1600" b="1" dirty="0"/>
              <a:t>　</a:t>
            </a:r>
            <a:br>
              <a:rPr kumimoji="1" lang="en-US" altLang="ja-JP" b="1" dirty="0"/>
            </a:br>
            <a:r>
              <a:rPr kumimoji="1" lang="ja-JP" altLang="en-US" sz="3600" b="1" dirty="0"/>
              <a:t>モンテカルロシミュレーションによる評価</a:t>
            </a:r>
            <a:endParaRPr kumimoji="1" lang="ja-JP" altLang="en-US" b="1" dirty="0"/>
          </a:p>
        </p:txBody>
      </p:sp>
      <p:sp>
        <p:nvSpPr>
          <p:cNvPr id="3" name="字幕 2">
            <a:extLst>
              <a:ext uri="{FF2B5EF4-FFF2-40B4-BE49-F238E27FC236}">
                <a16:creationId xmlns:a16="http://schemas.microsoft.com/office/drawing/2014/main" id="{F9B5FB9A-23CF-9110-F0D2-914E9A540795}"/>
              </a:ext>
            </a:extLst>
          </p:cNvPr>
          <p:cNvSpPr>
            <a:spLocks noGrp="1"/>
          </p:cNvSpPr>
          <p:nvPr>
            <p:ph type="subTitle" idx="1"/>
          </p:nvPr>
        </p:nvSpPr>
        <p:spPr>
          <a:xfrm>
            <a:off x="1407886" y="4777128"/>
            <a:ext cx="9144000" cy="1655762"/>
          </a:xfrm>
        </p:spPr>
        <p:txBody>
          <a:bodyPr/>
          <a:lstStyle/>
          <a:p>
            <a:r>
              <a:rPr kumimoji="1" lang="ja-JP" altLang="en-US" dirty="0"/>
              <a:t>東海大学医学部付属病院</a:t>
            </a:r>
            <a:endParaRPr kumimoji="1" lang="en-US" altLang="ja-JP" dirty="0"/>
          </a:p>
          <a:p>
            <a:r>
              <a:rPr lang="ja-JP" altLang="en-US" dirty="0"/>
              <a:t>本田裕司　山下高史　小林凛也</a:t>
            </a:r>
            <a:endParaRPr kumimoji="1" lang="ja-JP" altLang="en-US" dirty="0"/>
          </a:p>
        </p:txBody>
      </p:sp>
    </p:spTree>
    <p:extLst>
      <p:ext uri="{BB962C8B-B14F-4D97-AF65-F5344CB8AC3E}">
        <p14:creationId xmlns:p14="http://schemas.microsoft.com/office/powerpoint/2010/main" val="3080211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2DD103A-3DFD-8F3B-1983-832708DC3708}"/>
              </a:ext>
            </a:extLst>
          </p:cNvPr>
          <p:cNvSpPr/>
          <p:nvPr/>
        </p:nvSpPr>
        <p:spPr>
          <a:xfrm>
            <a:off x="1130283" y="4676523"/>
            <a:ext cx="9931431" cy="1502445"/>
          </a:xfrm>
          <a:prstGeom prst="rect">
            <a:avLst/>
          </a:prstGeom>
          <a:effectLst>
            <a:outerShdw blurRad="50800" dist="38100" dir="2700000" algn="tl" rotWithShape="0">
              <a:prstClr val="black">
                <a:alpha val="40000"/>
              </a:prstClr>
            </a:outerShdw>
          </a:effectLst>
        </p:spPr>
        <p:txBody>
          <a:bodyPr lIns="0" tIns="0" rIns="0" bIns="0">
            <a:noAutofit/>
          </a:bodyPr>
          <a:lstStyle/>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演題発表に関連し</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開示すべき</a:t>
            </a:r>
            <a:r>
              <a:rPr lang="en-US" altLang="ja-JP"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関係にある</a:t>
            </a:r>
            <a:endParaRPr lang="en-US" alt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企業などはありません</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endPar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p:txBody>
      </p:sp>
      <p:sp>
        <p:nvSpPr>
          <p:cNvPr id="3" name="テキスト ボックス 2">
            <a:extLst>
              <a:ext uri="{FF2B5EF4-FFF2-40B4-BE49-F238E27FC236}">
                <a16:creationId xmlns:a16="http://schemas.microsoft.com/office/drawing/2014/main" id="{0B424A30-2063-B823-E90A-D6AEBE65B340}"/>
              </a:ext>
            </a:extLst>
          </p:cNvPr>
          <p:cNvSpPr txBox="1"/>
          <p:nvPr/>
        </p:nvSpPr>
        <p:spPr>
          <a:xfrm>
            <a:off x="2526753" y="922674"/>
            <a:ext cx="7138493" cy="2769989"/>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ja-JP" altLang="en-US" sz="6000" dirty="0">
                <a:solidFill>
                  <a:schemeClr val="bg1"/>
                </a:solidFill>
                <a:latin typeface="Times New Roman" panose="02020603050405020304" pitchFamily="18" charset="0"/>
                <a:ea typeface="ＭＳ Ｐゴシック" pitchFamily="50" charset="-128"/>
                <a:cs typeface="Times New Roman" panose="02020603050405020304" pitchFamily="18" charset="0"/>
              </a:rPr>
              <a:t>日本核医学技術学会</a:t>
            </a:r>
            <a:endParaRPr kumimoji="1" lang="en-US" altLang="ja-JP" sz="60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lang="ja-JP" altLang="en-US" sz="4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a:t>
            </a:r>
            <a:endPar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endParaRPr lang="en-US" altLang="ja-JP" sz="2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kumimoji="1" lang="ja-JP" altLang="en-US" sz="3600" dirty="0">
                <a:solidFill>
                  <a:schemeClr val="bg1"/>
                </a:solidFill>
                <a:latin typeface="Times New Roman" panose="02020603050405020304" pitchFamily="18" charset="0"/>
                <a:ea typeface="ＭＳ Ｐゴシック" pitchFamily="50" charset="-128"/>
                <a:cs typeface="Times New Roman" panose="02020603050405020304" pitchFamily="18" charset="0"/>
              </a:rPr>
              <a:t>　　　筆頭発表者名：本田　裕司</a:t>
            </a:r>
          </a:p>
        </p:txBody>
      </p:sp>
    </p:spTree>
    <p:extLst>
      <p:ext uri="{BB962C8B-B14F-4D97-AF65-F5344CB8AC3E}">
        <p14:creationId xmlns:p14="http://schemas.microsoft.com/office/powerpoint/2010/main" val="1775382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47016917"/>
              </p:ext>
            </p:extLst>
          </p:nvPr>
        </p:nvGraphicFramePr>
        <p:xfrm>
          <a:off x="6617448" y="2597743"/>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13" name="図 12" descr="白黒の写真&#10;&#10;低い精度で自動的に生成された説明">
            <a:extLst>
              <a:ext uri="{FF2B5EF4-FFF2-40B4-BE49-F238E27FC236}">
                <a16:creationId xmlns:a16="http://schemas.microsoft.com/office/drawing/2014/main" id="{58EB2E6D-AAE8-D7EF-7C63-8FC64181C3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58625" y="3844068"/>
            <a:ext cx="2338525" cy="2338525"/>
          </a:xfrm>
          <a:prstGeom prst="rect">
            <a:avLst/>
          </a:prstGeom>
          <a:ln w="28575">
            <a:solidFill>
              <a:schemeClr val="accent6"/>
            </a:solidFill>
          </a:ln>
        </p:spPr>
      </p:pic>
      <p:grpSp>
        <p:nvGrpSpPr>
          <p:cNvPr id="46" name="グループ化 45">
            <a:extLst>
              <a:ext uri="{FF2B5EF4-FFF2-40B4-BE49-F238E27FC236}">
                <a16:creationId xmlns:a16="http://schemas.microsoft.com/office/drawing/2014/main" id="{9502D1D2-E895-E4C5-69BD-327D267058A8}"/>
              </a:ext>
            </a:extLst>
          </p:cNvPr>
          <p:cNvGrpSpPr/>
          <p:nvPr/>
        </p:nvGrpSpPr>
        <p:grpSpPr>
          <a:xfrm>
            <a:off x="3559917" y="1428480"/>
            <a:ext cx="2338525" cy="2347761"/>
            <a:chOff x="9609735" y="744784"/>
            <a:chExt cx="2338525" cy="2347761"/>
          </a:xfrm>
        </p:grpSpPr>
        <p:pic>
          <p:nvPicPr>
            <p:cNvPr id="22" name="図 21" descr="クマ, 建物, テディ, 巣箱 が含まれている画像&#10;&#10;自動的に生成された説明">
              <a:extLst>
                <a:ext uri="{FF2B5EF4-FFF2-40B4-BE49-F238E27FC236}">
                  <a16:creationId xmlns:a16="http://schemas.microsoft.com/office/drawing/2014/main" id="{5FC1E403-8C4E-38C9-87DB-E51142EBA7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09735" y="744785"/>
              <a:ext cx="2338525" cy="2338525"/>
            </a:xfrm>
            <a:prstGeom prst="rect">
              <a:avLst/>
            </a:prstGeom>
            <a:ln w="28575">
              <a:solidFill>
                <a:schemeClr val="accent4">
                  <a:lumMod val="60000"/>
                  <a:lumOff val="40000"/>
                </a:schemeClr>
              </a:solidFill>
            </a:ln>
          </p:spPr>
        </p:pic>
        <p:cxnSp>
          <p:nvCxnSpPr>
            <p:cNvPr id="33" name="直線コネクタ 32">
              <a:extLst>
                <a:ext uri="{FF2B5EF4-FFF2-40B4-BE49-F238E27FC236}">
                  <a16:creationId xmlns:a16="http://schemas.microsoft.com/office/drawing/2014/main" id="{3AA60042-B1D8-F9F8-9B1D-B6D11C1C7D98}"/>
                </a:ext>
              </a:extLst>
            </p:cNvPr>
            <p:cNvCxnSpPr>
              <a:cxnSpLocks/>
            </p:cNvCxnSpPr>
            <p:nvPr/>
          </p:nvCxnSpPr>
          <p:spPr>
            <a:xfrm>
              <a:off x="10637543" y="1747330"/>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EE767AEC-01F2-A889-ACFB-F63B35982CBE}"/>
                </a:ext>
              </a:extLst>
            </p:cNvPr>
            <p:cNvCxnSpPr>
              <a:cxnSpLocks/>
            </p:cNvCxnSpPr>
            <p:nvPr/>
          </p:nvCxnSpPr>
          <p:spPr>
            <a:xfrm>
              <a:off x="9646943" y="1753775"/>
              <a:ext cx="692960"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AC8E14F1-FA3C-3C06-54C3-7EAC49A10C56}"/>
                </a:ext>
              </a:extLst>
            </p:cNvPr>
            <p:cNvCxnSpPr>
              <a:cxnSpLocks/>
            </p:cNvCxnSpPr>
            <p:nvPr/>
          </p:nvCxnSpPr>
          <p:spPr>
            <a:xfrm>
              <a:off x="10492508" y="744784"/>
              <a:ext cx="0" cy="736762"/>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A670DD17-723B-101D-22EF-84879E7D988D}"/>
                </a:ext>
              </a:extLst>
            </p:cNvPr>
            <p:cNvCxnSpPr>
              <a:cxnSpLocks/>
            </p:cNvCxnSpPr>
            <p:nvPr/>
          </p:nvCxnSpPr>
          <p:spPr>
            <a:xfrm>
              <a:off x="10492508" y="1918766"/>
              <a:ext cx="0" cy="1173779"/>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grpSp>
      <p:grpSp>
        <p:nvGrpSpPr>
          <p:cNvPr id="56" name="グループ化 55">
            <a:extLst>
              <a:ext uri="{FF2B5EF4-FFF2-40B4-BE49-F238E27FC236}">
                <a16:creationId xmlns:a16="http://schemas.microsoft.com/office/drawing/2014/main" id="{3E100575-DF2A-C62A-0F36-1EF24F31A92E}"/>
              </a:ext>
            </a:extLst>
          </p:cNvPr>
          <p:cNvGrpSpPr/>
          <p:nvPr/>
        </p:nvGrpSpPr>
        <p:grpSpPr>
          <a:xfrm>
            <a:off x="1132669" y="1433098"/>
            <a:ext cx="2338525" cy="2338525"/>
            <a:chOff x="7182487" y="744784"/>
            <a:chExt cx="2338525" cy="2338525"/>
          </a:xfrm>
        </p:grpSpPr>
        <p:pic>
          <p:nvPicPr>
            <p:cNvPr id="17" name="図 16" descr="ぼやけた写真&#10;&#10;低い精度で自動的に生成された説明">
              <a:extLst>
                <a:ext uri="{FF2B5EF4-FFF2-40B4-BE49-F238E27FC236}">
                  <a16:creationId xmlns:a16="http://schemas.microsoft.com/office/drawing/2014/main" id="{54E6A131-DAA5-D21F-33BE-EFBBCD5CCE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82487" y="744784"/>
              <a:ext cx="2338525" cy="2338525"/>
            </a:xfrm>
            <a:prstGeom prst="rect">
              <a:avLst/>
            </a:prstGeom>
            <a:ln w="28575">
              <a:solidFill>
                <a:srgbClr val="FF0000"/>
              </a:solidFill>
            </a:ln>
          </p:spPr>
        </p:pic>
        <p:cxnSp>
          <p:nvCxnSpPr>
            <p:cNvPr id="29" name="直線コネクタ 28">
              <a:extLst>
                <a:ext uri="{FF2B5EF4-FFF2-40B4-BE49-F238E27FC236}">
                  <a16:creationId xmlns:a16="http://schemas.microsoft.com/office/drawing/2014/main" id="{BDAA06A8-A448-8EE5-839F-62ABAA6DE888}"/>
                </a:ext>
              </a:extLst>
            </p:cNvPr>
            <p:cNvCxnSpPr>
              <a:cxnSpLocks/>
            </p:cNvCxnSpPr>
            <p:nvPr/>
          </p:nvCxnSpPr>
          <p:spPr>
            <a:xfrm>
              <a:off x="7182487" y="1753775"/>
              <a:ext cx="75651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2675AE76-D9A1-BB27-823D-1A7F24068B69}"/>
                </a:ext>
              </a:extLst>
            </p:cNvPr>
            <p:cNvCxnSpPr>
              <a:cxnSpLocks/>
            </p:cNvCxnSpPr>
            <p:nvPr/>
          </p:nvCxnSpPr>
          <p:spPr>
            <a:xfrm>
              <a:off x="8173087" y="1753775"/>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8" name="直線コネクタ 47">
              <a:extLst>
                <a:ext uri="{FF2B5EF4-FFF2-40B4-BE49-F238E27FC236}">
                  <a16:creationId xmlns:a16="http://schemas.microsoft.com/office/drawing/2014/main" id="{A8C9390F-3554-0B65-F96E-113DA0126D1D}"/>
                </a:ext>
              </a:extLst>
            </p:cNvPr>
            <p:cNvCxnSpPr>
              <a:cxnSpLocks/>
            </p:cNvCxnSpPr>
            <p:nvPr/>
          </p:nvCxnSpPr>
          <p:spPr>
            <a:xfrm>
              <a:off x="8049352" y="744784"/>
              <a:ext cx="5218" cy="812449"/>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3F21F6-1D90-BCEE-D4BA-9BABC38EFAEA}"/>
                </a:ext>
              </a:extLst>
            </p:cNvPr>
            <p:cNvCxnSpPr>
              <a:cxnSpLocks/>
            </p:cNvCxnSpPr>
            <p:nvPr/>
          </p:nvCxnSpPr>
          <p:spPr>
            <a:xfrm>
              <a:off x="8054506" y="1911139"/>
              <a:ext cx="0" cy="1172170"/>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grpSp>
        <p:nvGrpSpPr>
          <p:cNvPr id="55" name="グループ化 54">
            <a:extLst>
              <a:ext uri="{FF2B5EF4-FFF2-40B4-BE49-F238E27FC236}">
                <a16:creationId xmlns:a16="http://schemas.microsoft.com/office/drawing/2014/main" id="{9F41E8CC-7FBD-3794-EE38-311674050326}"/>
              </a:ext>
            </a:extLst>
          </p:cNvPr>
          <p:cNvGrpSpPr/>
          <p:nvPr/>
        </p:nvGrpSpPr>
        <p:grpSpPr>
          <a:xfrm>
            <a:off x="1129722" y="3844068"/>
            <a:ext cx="2341472" cy="2338525"/>
            <a:chOff x="4558042" y="744784"/>
            <a:chExt cx="2341472" cy="2338525"/>
          </a:xfrm>
        </p:grpSpPr>
        <p:pic>
          <p:nvPicPr>
            <p:cNvPr id="8" name="図 7" descr="猫, 座る, 持つ, 雪 が含まれている画像&#10;&#10;自動的に生成された説明">
              <a:extLst>
                <a:ext uri="{FF2B5EF4-FFF2-40B4-BE49-F238E27FC236}">
                  <a16:creationId xmlns:a16="http://schemas.microsoft.com/office/drawing/2014/main" id="{B3BC6B77-2B18-9062-0826-EE3FE87E266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560989" y="744784"/>
              <a:ext cx="2338525" cy="2338525"/>
            </a:xfrm>
            <a:prstGeom prst="rect">
              <a:avLst/>
            </a:prstGeom>
            <a:ln w="28575">
              <a:solidFill>
                <a:srgbClr val="FFFF00"/>
              </a:solidFill>
            </a:ln>
          </p:spPr>
        </p:pic>
        <p:cxnSp>
          <p:nvCxnSpPr>
            <p:cNvPr id="37" name="直線コネクタ 36">
              <a:extLst>
                <a:ext uri="{FF2B5EF4-FFF2-40B4-BE49-F238E27FC236}">
                  <a16:creationId xmlns:a16="http://schemas.microsoft.com/office/drawing/2014/main" id="{41B6D7F3-9F8F-D7B7-DB73-95E1A597D9F5}"/>
                </a:ext>
              </a:extLst>
            </p:cNvPr>
            <p:cNvCxnSpPr>
              <a:cxnSpLocks/>
            </p:cNvCxnSpPr>
            <p:nvPr/>
          </p:nvCxnSpPr>
          <p:spPr>
            <a:xfrm>
              <a:off x="4558042" y="1634836"/>
              <a:ext cx="748381"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7D14F2EF-BB9A-E118-C078-857C43EA1774}"/>
                </a:ext>
              </a:extLst>
            </p:cNvPr>
            <p:cNvCxnSpPr>
              <a:cxnSpLocks/>
            </p:cNvCxnSpPr>
            <p:nvPr/>
          </p:nvCxnSpPr>
          <p:spPr>
            <a:xfrm>
              <a:off x="5615606" y="1630217"/>
              <a:ext cx="1274672"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51" name="直線コネクタ 50">
              <a:extLst>
                <a:ext uri="{FF2B5EF4-FFF2-40B4-BE49-F238E27FC236}">
                  <a16:creationId xmlns:a16="http://schemas.microsoft.com/office/drawing/2014/main" id="{4A88CCCC-C85D-05E0-0F90-FF195778DE26}"/>
                </a:ext>
              </a:extLst>
            </p:cNvPr>
            <p:cNvCxnSpPr>
              <a:cxnSpLocks/>
            </p:cNvCxnSpPr>
            <p:nvPr/>
          </p:nvCxnSpPr>
          <p:spPr>
            <a:xfrm>
              <a:off x="5421606" y="754020"/>
              <a:ext cx="0" cy="676831"/>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2" name="直線コネクタ 51">
              <a:extLst>
                <a:ext uri="{FF2B5EF4-FFF2-40B4-BE49-F238E27FC236}">
                  <a16:creationId xmlns:a16="http://schemas.microsoft.com/office/drawing/2014/main" id="{1F6E8A1A-4B4D-DA0B-F58D-6F13D2091E46}"/>
                </a:ext>
              </a:extLst>
            </p:cNvPr>
            <p:cNvCxnSpPr>
              <a:cxnSpLocks/>
            </p:cNvCxnSpPr>
            <p:nvPr/>
          </p:nvCxnSpPr>
          <p:spPr>
            <a:xfrm>
              <a:off x="5426760" y="1819564"/>
              <a:ext cx="0" cy="1243664"/>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41490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6713BB-449B-EE6E-8444-B2C7368FB830}"/>
              </a:ext>
            </a:extLst>
          </p:cNvPr>
          <p:cNvSpPr>
            <a:spLocks noGrp="1"/>
          </p:cNvSpPr>
          <p:nvPr>
            <p:ph type="title"/>
          </p:nvPr>
        </p:nvSpPr>
        <p:spPr>
          <a:xfrm>
            <a:off x="838200" y="10565"/>
            <a:ext cx="10515600" cy="1325563"/>
          </a:xfrm>
        </p:spPr>
        <p:txBody>
          <a:bodyPr/>
          <a:lstStyle/>
          <a:p>
            <a:pPr algn="ctr"/>
            <a:r>
              <a:rPr kumimoji="1" lang="ja-JP" altLang="en-US" dirty="0"/>
              <a:t>目的</a:t>
            </a:r>
          </a:p>
        </p:txBody>
      </p:sp>
      <p:sp>
        <p:nvSpPr>
          <p:cNvPr id="3" name="コンテンツ プレースホルダー 2">
            <a:extLst>
              <a:ext uri="{FF2B5EF4-FFF2-40B4-BE49-F238E27FC236}">
                <a16:creationId xmlns:a16="http://schemas.microsoft.com/office/drawing/2014/main" id="{5E2AA29E-6E60-818D-E3D7-B00AE9FFF9A6}"/>
              </a:ext>
            </a:extLst>
          </p:cNvPr>
          <p:cNvSpPr>
            <a:spLocks noGrp="1"/>
          </p:cNvSpPr>
          <p:nvPr>
            <p:ph idx="1"/>
          </p:nvPr>
        </p:nvSpPr>
        <p:spPr>
          <a:xfrm>
            <a:off x="519544" y="1825625"/>
            <a:ext cx="11242964" cy="4351338"/>
          </a:xfrm>
        </p:spPr>
        <p:txBody>
          <a:bodyPr>
            <a:normAutofit/>
          </a:bodyPr>
          <a:lstStyle/>
          <a:p>
            <a:pPr marL="0" indent="0">
              <a:buNone/>
            </a:pPr>
            <a:r>
              <a:rPr lang="ja-JP" altLang="en-US" sz="3600" dirty="0"/>
              <a:t>低エネルギー高分解能コリメータ</a:t>
            </a:r>
            <a:r>
              <a:rPr lang="en-US" altLang="ja-JP" sz="3600" dirty="0"/>
              <a:t>(LEHR)</a:t>
            </a:r>
            <a:r>
              <a:rPr lang="ja-JP" altLang="en-US" sz="3600" dirty="0"/>
              <a:t>と</a:t>
            </a:r>
            <a:r>
              <a:rPr lang="en-US" altLang="ja-JP" sz="3600" baseline="30000" dirty="0"/>
              <a:t>123</a:t>
            </a:r>
            <a:r>
              <a:rPr lang="en-US" altLang="ja-JP" sz="3600" dirty="0"/>
              <a:t>I</a:t>
            </a:r>
            <a:r>
              <a:rPr lang="ja-JP" altLang="en-US" sz="3600" dirty="0"/>
              <a:t>による線量測定において、</a:t>
            </a:r>
            <a:r>
              <a:rPr lang="en-US" altLang="ja-JP" sz="3600" dirty="0"/>
              <a:t>triple energy window(</a:t>
            </a:r>
            <a:r>
              <a:rPr lang="en-US" altLang="ja-JP" sz="3600" dirty="0">
                <a:solidFill>
                  <a:srgbClr val="FFC000"/>
                </a:solidFill>
              </a:rPr>
              <a:t>TEW</a:t>
            </a:r>
            <a:r>
              <a:rPr lang="en-US" altLang="ja-JP" sz="3600" dirty="0"/>
              <a:t>)</a:t>
            </a:r>
            <a:r>
              <a:rPr lang="ja-JP" altLang="en-US" sz="3600" dirty="0"/>
              <a:t>法が　　</a:t>
            </a:r>
            <a:r>
              <a:rPr lang="ja-JP" altLang="en-US" sz="3600" dirty="0">
                <a:solidFill>
                  <a:srgbClr val="FFC000"/>
                </a:solidFill>
              </a:rPr>
              <a:t>キャリブレーションファクタ</a:t>
            </a:r>
            <a:r>
              <a:rPr lang="ja-JP" altLang="en-US" sz="3600" dirty="0"/>
              <a:t>と</a:t>
            </a:r>
            <a:r>
              <a:rPr lang="ja-JP" altLang="en-US" sz="3600" dirty="0">
                <a:solidFill>
                  <a:srgbClr val="FFC000"/>
                </a:solidFill>
              </a:rPr>
              <a:t>線量測定</a:t>
            </a:r>
            <a:r>
              <a:rPr lang="ja-JP" altLang="en-US" sz="3600" dirty="0"/>
              <a:t>に及ぼす影響をモンテカルロシミュレーションを用いて評価する</a:t>
            </a:r>
          </a:p>
        </p:txBody>
      </p:sp>
    </p:spTree>
    <p:extLst>
      <p:ext uri="{BB962C8B-B14F-4D97-AF65-F5344CB8AC3E}">
        <p14:creationId xmlns:p14="http://schemas.microsoft.com/office/powerpoint/2010/main" val="14580180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a:xfrm>
            <a:off x="838200" y="9525"/>
            <a:ext cx="10515600" cy="1325563"/>
          </a:xfrm>
        </p:spPr>
        <p:txBody>
          <a:bodyPr/>
          <a:lstStyle/>
          <a:p>
            <a:pPr algn="ctr"/>
            <a:r>
              <a:rPr kumimoji="1" lang="ja-JP" altLang="en-US" dirty="0"/>
              <a:t>使用機器及び収集条件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extLst>
              <p:ext uri="{D42A27DB-BD31-4B8C-83A1-F6EECF244321}">
                <p14:modId xmlns:p14="http://schemas.microsoft.com/office/powerpoint/2010/main" val="1525915979"/>
              </p:ext>
            </p:extLst>
          </p:nvPr>
        </p:nvGraphicFramePr>
        <p:xfrm>
          <a:off x="521709" y="1107152"/>
          <a:ext cx="11341100" cy="5737274"/>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41083">
                <a:tc gridSpan="3">
                  <a:txBody>
                    <a:bodyPr/>
                    <a:lstStyle/>
                    <a:p>
                      <a:r>
                        <a:rPr kumimoji="1" lang="ja-JP" altLang="en-US" sz="2400" dirty="0">
                          <a:solidFill>
                            <a:schemeClr val="bg1"/>
                          </a:solidFill>
                        </a:rPr>
                        <a:t>モンテカルロシミュレーションコード：</a:t>
                      </a:r>
                      <a:r>
                        <a:rPr kumimoji="1" lang="en-US" altLang="ja-JP" sz="2400" dirty="0">
                          <a:solidFill>
                            <a:schemeClr val="bg1"/>
                          </a:solidFill>
                        </a:rPr>
                        <a:t>SIMIMD(Lund University)</a:t>
                      </a: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1468409"/>
                  </a:ext>
                </a:extLst>
              </a:tr>
              <a:tr h="404525">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r>
                        <a:rPr kumimoji="1" lang="en-US" altLang="ja-JP" sz="2400" dirty="0">
                          <a:solidFill>
                            <a:schemeClr val="bg1"/>
                          </a:solidFill>
                        </a:rPr>
                        <a:t>SPECT</a:t>
                      </a:r>
                      <a:r>
                        <a:rPr kumimoji="1" lang="ja-JP" altLang="en-US" sz="2400" dirty="0">
                          <a:solidFill>
                            <a:schemeClr val="bg1"/>
                          </a:solidFill>
                        </a:rPr>
                        <a:t>装置　</a:t>
                      </a:r>
                      <a:r>
                        <a:rPr kumimoji="1" lang="en-US" altLang="ja-JP" sz="2400" dirty="0">
                          <a:solidFill>
                            <a:schemeClr val="bg1"/>
                          </a:solidFill>
                        </a:rPr>
                        <a:t>SymbiaT16 </a:t>
                      </a:r>
                      <a:r>
                        <a:rPr kumimoji="1" lang="ja-JP" altLang="en-US" sz="2400" dirty="0">
                          <a:solidFill>
                            <a:schemeClr val="bg1"/>
                          </a:solidFill>
                        </a:rPr>
                        <a:t>＋ </a:t>
                      </a:r>
                      <a:r>
                        <a:rPr kumimoji="1" lang="en-US" altLang="ja-JP" sz="2400" dirty="0">
                          <a:solidFill>
                            <a:schemeClr val="bg1"/>
                          </a:solidFill>
                        </a:rPr>
                        <a:t>LEHR</a:t>
                      </a:r>
                      <a:r>
                        <a:rPr kumimoji="1" lang="ja-JP" altLang="en-US" sz="2400" dirty="0">
                          <a:solidFill>
                            <a:schemeClr val="bg1"/>
                          </a:solidFill>
                        </a:rPr>
                        <a:t>（</a:t>
                      </a:r>
                      <a:r>
                        <a:rPr kumimoji="1" lang="en-US" altLang="ja-JP" sz="2400" dirty="0">
                          <a:solidFill>
                            <a:schemeClr val="bg1"/>
                          </a:solidFill>
                        </a:rPr>
                        <a:t>Siemens</a:t>
                      </a:r>
                      <a:r>
                        <a:rPr kumimoji="1" lang="ja-JP" altLang="en-US" sz="2400" dirty="0">
                          <a:solidFill>
                            <a:schemeClr val="bg1"/>
                          </a:solidFill>
                        </a:rPr>
                        <a:t>）</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0790794"/>
                  </a:ext>
                </a:extLst>
              </a:tr>
              <a:tr h="614770">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indent="0">
                        <a:buNone/>
                      </a:pPr>
                      <a:r>
                        <a:rPr lang="ja-JP" altLang="en-US" sz="2400" baseline="0" dirty="0">
                          <a:solidFill>
                            <a:schemeClr val="bg1"/>
                          </a:solidFill>
                        </a:rPr>
                        <a:t>核種　　　　 </a:t>
                      </a:r>
                      <a:r>
                        <a:rPr lang="en-US" altLang="ja-JP" sz="2400" baseline="30000" dirty="0">
                          <a:solidFill>
                            <a:schemeClr val="bg1"/>
                          </a:solidFill>
                        </a:rPr>
                        <a:t>123</a:t>
                      </a:r>
                      <a:r>
                        <a:rPr lang="en-US" altLang="ja-JP" sz="2400" dirty="0">
                          <a:solidFill>
                            <a:schemeClr val="bg1"/>
                          </a:solidFill>
                        </a:rPr>
                        <a:t>I(γ</a:t>
                      </a:r>
                      <a:r>
                        <a:rPr lang="ja-JP" altLang="en-US" sz="2400" dirty="0">
                          <a:solidFill>
                            <a:schemeClr val="bg1"/>
                          </a:solidFill>
                        </a:rPr>
                        <a:t>線エネルギー </a:t>
                      </a:r>
                      <a:r>
                        <a:rPr lang="en-US" altLang="ja-JP" sz="2400" dirty="0">
                          <a:solidFill>
                            <a:schemeClr val="bg1"/>
                          </a:solidFill>
                        </a:rPr>
                        <a:t>158.97keV  83%)</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0137300"/>
                  </a:ext>
                </a:extLst>
              </a:tr>
              <a:tr h="441083">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キャリブレーションファクター</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468863">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ctr"/>
                      <a:r>
                        <a:rPr kumimoji="1" lang="en-US" altLang="ja-JP" sz="2400" dirty="0">
                          <a:solidFill>
                            <a:srgbClr val="FFC000"/>
                          </a:solidFill>
                        </a:rPr>
                        <a:t>main 15%  ±  sub 15%</a:t>
                      </a:r>
                      <a:endParaRPr kumimoji="1" lang="ja-JP" altLang="en-US" sz="24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468863">
                <a:tc vMerge="1">
                  <a:txBody>
                    <a:bodyPr/>
                    <a:lstStyle/>
                    <a:p>
                      <a:endParaRPr kumimoji="1" lang="ja-JP" altLang="en-US" dirty="0"/>
                    </a:p>
                  </a:txBody>
                  <a:tcPr>
                    <a:lnT w="12700" cmpd="sng">
                      <a:noFill/>
                    </a:lnT>
                  </a:tcPr>
                </a:tc>
                <a:tc gridSpan="2">
                  <a:txBody>
                    <a:bodyPr/>
                    <a:lstStyle/>
                    <a:p>
                      <a:pPr algn="ctr"/>
                      <a:r>
                        <a:rPr kumimoji="1" lang="en-US" altLang="ja-JP" sz="2400" dirty="0">
                          <a:solidFill>
                            <a:srgbClr val="FFC000"/>
                          </a:solidFill>
                        </a:rPr>
                        <a:t>main 15%  ±  sub   5%</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468863">
                <a:tc vMerge="1">
                  <a:txBody>
                    <a:bodyPr/>
                    <a:lstStyle/>
                    <a:p>
                      <a:endParaRPr kumimoji="1" lang="ja-JP" altLang="en-US" dirty="0"/>
                    </a:p>
                  </a:txBody>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solidFill>
                            <a:srgbClr val="FFC000"/>
                          </a:solidFill>
                        </a:rPr>
                        <a:t>main 20%  ±  sub 10%</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468863">
                <a:tc vMerge="1">
                  <a:txBody>
                    <a:bodyPr/>
                    <a:lstStyle/>
                    <a:p>
                      <a:endParaRPr kumimoji="1" lang="ja-JP" altLang="en-US" dirty="0"/>
                    </a:p>
                  </a:txBody>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solidFill>
                            <a:srgbClr val="FFC000"/>
                          </a:solidFill>
                        </a:rPr>
                        <a:t>main 20%  ±  sub</a:t>
                      </a:r>
                      <a:r>
                        <a:rPr kumimoji="1" lang="ja-JP" altLang="en-US" sz="2400" dirty="0">
                          <a:solidFill>
                            <a:srgbClr val="FFC000"/>
                          </a:solidFill>
                        </a:rPr>
                        <a:t>   </a:t>
                      </a:r>
                      <a:r>
                        <a:rPr kumimoji="1" lang="en-US" altLang="ja-JP" sz="2400" dirty="0">
                          <a:solidFill>
                            <a:srgbClr val="FFC000"/>
                          </a:solidFill>
                        </a:rPr>
                        <a:t>3%</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468863">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468863">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SPECT( 72views * 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468863">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468863">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OSEM(iter:10, su:8) </a:t>
                      </a: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OSEM(iter:10, su:8) </a:t>
                      </a: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1598332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4F7F5-BF6D-30C5-25C2-F2838B19BEFB}"/>
            </a:ext>
          </a:extLst>
        </p:cNvPr>
        <p:cNvGrpSpPr/>
        <p:nvPr/>
      </p:nvGrpSpPr>
      <p:grpSpPr>
        <a:xfrm>
          <a:off x="0" y="0"/>
          <a:ext cx="0" cy="0"/>
          <a:chOff x="0" y="0"/>
          <a:chExt cx="0" cy="0"/>
        </a:xfrm>
      </p:grpSpPr>
      <p:pic>
        <p:nvPicPr>
          <p:cNvPr id="36" name="図 35" descr="夜に光っている星&#10;&#10;自動的に生成された説明">
            <a:extLst>
              <a:ext uri="{FF2B5EF4-FFF2-40B4-BE49-F238E27FC236}">
                <a16:creationId xmlns:a16="http://schemas.microsoft.com/office/drawing/2014/main" id="{163701E5-4B16-1698-7559-3BCCE0CA72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93469" y="2057604"/>
            <a:ext cx="1219200" cy="1219200"/>
          </a:xfrm>
          <a:prstGeom prst="rect">
            <a:avLst/>
          </a:prstGeom>
        </p:spPr>
      </p:pic>
      <p:sp>
        <p:nvSpPr>
          <p:cNvPr id="2" name="タイトル 1">
            <a:extLst>
              <a:ext uri="{FF2B5EF4-FFF2-40B4-BE49-F238E27FC236}">
                <a16:creationId xmlns:a16="http://schemas.microsoft.com/office/drawing/2014/main" id="{A2A73A6F-F13C-0323-5942-15B7585D2ECA}"/>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pic>
        <p:nvPicPr>
          <p:cNvPr id="5" name="図 4" descr="夜空の月&#10;&#10;自動的に生成された説明">
            <a:extLst>
              <a:ext uri="{FF2B5EF4-FFF2-40B4-BE49-F238E27FC236}">
                <a16:creationId xmlns:a16="http://schemas.microsoft.com/office/drawing/2014/main" id="{83998F98-C7F6-CD08-9316-E6B78C2EC74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715" y="1950137"/>
            <a:ext cx="1219200" cy="1219200"/>
          </a:xfrm>
          <a:prstGeom prst="rect">
            <a:avLst/>
          </a:prstGeom>
        </p:spPr>
      </p:pic>
      <p:sp>
        <p:nvSpPr>
          <p:cNvPr id="15" name="テキスト ボックス 14">
            <a:extLst>
              <a:ext uri="{FF2B5EF4-FFF2-40B4-BE49-F238E27FC236}">
                <a16:creationId xmlns:a16="http://schemas.microsoft.com/office/drawing/2014/main" id="{5121ACD9-C347-112F-07C4-92F10010E804}"/>
              </a:ext>
            </a:extLst>
          </p:cNvPr>
          <p:cNvSpPr txBox="1"/>
          <p:nvPr/>
        </p:nvSpPr>
        <p:spPr>
          <a:xfrm>
            <a:off x="88976" y="3176898"/>
            <a:ext cx="1576874" cy="646331"/>
          </a:xfrm>
          <a:prstGeom prst="rect">
            <a:avLst/>
          </a:prstGeom>
          <a:noFill/>
        </p:spPr>
        <p:txBody>
          <a:bodyPr wrap="square" rtlCol="0">
            <a:spAutoFit/>
          </a:bodyPr>
          <a:lstStyle/>
          <a:p>
            <a:pPr algn="ctr"/>
            <a:r>
              <a:rPr lang="ja-JP" altLang="en-US" dirty="0">
                <a:solidFill>
                  <a:schemeClr val="bg1"/>
                </a:solidFill>
              </a:rPr>
              <a:t>全光子</a:t>
            </a: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B3B69A3C-E9D5-8A26-F4AD-217FC9785731}"/>
              </a:ext>
            </a:extLst>
          </p:cNvPr>
          <p:cNvSpPr txBox="1"/>
          <p:nvPr/>
        </p:nvSpPr>
        <p:spPr>
          <a:xfrm>
            <a:off x="3968299" y="4909385"/>
            <a:ext cx="1576874" cy="369332"/>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p>
        </p:txBody>
      </p:sp>
      <p:sp>
        <p:nvSpPr>
          <p:cNvPr id="17" name="テキスト ボックス 16">
            <a:extLst>
              <a:ext uri="{FF2B5EF4-FFF2-40B4-BE49-F238E27FC236}">
                <a16:creationId xmlns:a16="http://schemas.microsoft.com/office/drawing/2014/main" id="{55E5BF1C-B41E-97FD-69EB-4E8D84FAD6CA}"/>
              </a:ext>
            </a:extLst>
          </p:cNvPr>
          <p:cNvSpPr txBox="1"/>
          <p:nvPr/>
        </p:nvSpPr>
        <p:spPr>
          <a:xfrm>
            <a:off x="6108592" y="4943571"/>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CDE83974-0FC3-CD0C-0CE2-519F6F0A763F}"/>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pic>
        <p:nvPicPr>
          <p:cNvPr id="4" name="図 3" descr="黒い背景に白い文字がある&#10;&#10;低い精度で自動的に生成された説明">
            <a:extLst>
              <a:ext uri="{FF2B5EF4-FFF2-40B4-BE49-F238E27FC236}">
                <a16:creationId xmlns:a16="http://schemas.microsoft.com/office/drawing/2014/main" id="{73992DEA-EA11-A5E0-BAC3-2CF1DD53870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55807" y="3524973"/>
            <a:ext cx="1219200" cy="1219200"/>
          </a:xfrm>
          <a:prstGeom prst="rect">
            <a:avLst/>
          </a:prstGeom>
        </p:spPr>
      </p:pic>
      <p:sp>
        <p:nvSpPr>
          <p:cNvPr id="6" name="矢印: 上向き折線 5">
            <a:extLst>
              <a:ext uri="{FF2B5EF4-FFF2-40B4-BE49-F238E27FC236}">
                <a16:creationId xmlns:a16="http://schemas.microsoft.com/office/drawing/2014/main" id="{C17E19BC-1E4E-32C5-9895-F1DF9B988907}"/>
              </a:ext>
            </a:extLst>
          </p:cNvPr>
          <p:cNvSpPr/>
          <p:nvPr/>
        </p:nvSpPr>
        <p:spPr>
          <a:xfrm rot="5400000">
            <a:off x="874485" y="3711271"/>
            <a:ext cx="646331" cy="936397"/>
          </a:xfrm>
          <a:prstGeom prst="bentUp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D186F7CC-8EDA-C351-B7E8-F98801493C0C}"/>
              </a:ext>
            </a:extLst>
          </p:cNvPr>
          <p:cNvSpPr txBox="1"/>
          <p:nvPr/>
        </p:nvSpPr>
        <p:spPr>
          <a:xfrm>
            <a:off x="979328" y="4760698"/>
            <a:ext cx="2897771" cy="369332"/>
          </a:xfrm>
          <a:prstGeom prst="rect">
            <a:avLst/>
          </a:prstGeom>
          <a:noFill/>
        </p:spPr>
        <p:txBody>
          <a:bodyPr wrap="square" rtlCol="0">
            <a:spAutoFit/>
          </a:bodyPr>
          <a:lstStyle/>
          <a:p>
            <a:pPr algn="ctr"/>
            <a:r>
              <a:rPr lang="ja-JP" altLang="en-US" dirty="0">
                <a:solidFill>
                  <a:schemeClr val="bg1"/>
                </a:solidFill>
              </a:rPr>
              <a:t>一次光子のみ投影</a:t>
            </a:r>
            <a:r>
              <a:rPr kumimoji="1" lang="ja-JP" altLang="en-US" dirty="0">
                <a:solidFill>
                  <a:schemeClr val="bg1"/>
                </a:solidFill>
              </a:rPr>
              <a:t>データ</a:t>
            </a:r>
          </a:p>
        </p:txBody>
      </p:sp>
      <p:sp>
        <p:nvSpPr>
          <p:cNvPr id="22" name="矢印: 右 21">
            <a:extLst>
              <a:ext uri="{FF2B5EF4-FFF2-40B4-BE49-F238E27FC236}">
                <a16:creationId xmlns:a16="http://schemas.microsoft.com/office/drawing/2014/main" id="{B9098DDF-B5A7-593C-97E1-C5DB0D8F97DE}"/>
              </a:ext>
            </a:extLst>
          </p:cNvPr>
          <p:cNvSpPr/>
          <p:nvPr/>
        </p:nvSpPr>
        <p:spPr>
          <a:xfrm>
            <a:off x="1665851" y="2448553"/>
            <a:ext cx="2119856"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2ABF1348-3905-6195-625B-1607F31B7D10}"/>
              </a:ext>
            </a:extLst>
          </p:cNvPr>
          <p:cNvSpPr txBox="1"/>
          <p:nvPr/>
        </p:nvSpPr>
        <p:spPr>
          <a:xfrm>
            <a:off x="3918667" y="2924490"/>
            <a:ext cx="1576874" cy="369332"/>
          </a:xfrm>
          <a:prstGeom prst="rect">
            <a:avLst/>
          </a:prstGeom>
          <a:noFill/>
        </p:spPr>
        <p:txBody>
          <a:bodyPr wrap="square" rtlCol="0">
            <a:spAutoFit/>
          </a:bodyPr>
          <a:lstStyle/>
          <a:p>
            <a:pPr algn="ctr"/>
            <a:r>
              <a:rPr kumimoji="1" lang="en-US" altLang="ja-JP" dirty="0">
                <a:solidFill>
                  <a:schemeClr val="bg1"/>
                </a:solidFill>
              </a:rPr>
              <a:t>+SC, +PSF</a:t>
            </a:r>
            <a:endParaRPr kumimoji="1" lang="ja-JP" altLang="en-US" dirty="0">
              <a:solidFill>
                <a:schemeClr val="bg1"/>
              </a:solidFill>
            </a:endParaRPr>
          </a:p>
        </p:txBody>
      </p:sp>
      <p:sp>
        <p:nvSpPr>
          <p:cNvPr id="24" name="四角形: 角を丸くする 23">
            <a:extLst>
              <a:ext uri="{FF2B5EF4-FFF2-40B4-BE49-F238E27FC236}">
                <a16:creationId xmlns:a16="http://schemas.microsoft.com/office/drawing/2014/main" id="{CEC1DADD-474E-0645-344D-FFB53D76007A}"/>
              </a:ext>
            </a:extLst>
          </p:cNvPr>
          <p:cNvSpPr/>
          <p:nvPr/>
        </p:nvSpPr>
        <p:spPr>
          <a:xfrm>
            <a:off x="3915149" y="1831223"/>
            <a:ext cx="1598883" cy="3036447"/>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04D5DB8A-1529-5C53-3A96-E4975E9B1B6B}"/>
              </a:ext>
            </a:extLst>
          </p:cNvPr>
          <p:cNvSpPr/>
          <p:nvPr/>
        </p:nvSpPr>
        <p:spPr>
          <a:xfrm>
            <a:off x="6090033" y="1883182"/>
            <a:ext cx="1597657" cy="298448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DC416079-054B-8648-91AD-8FD465515B45}"/>
                  </a:ext>
                </a:extLst>
              </p:cNvPr>
              <p:cNvSpPr txBox="1"/>
              <p:nvPr/>
            </p:nvSpPr>
            <p:spPr>
              <a:xfrm>
                <a:off x="8342031" y="2771927"/>
                <a:ext cx="3760993" cy="1170129"/>
              </a:xfrm>
              <a:prstGeom prst="rect">
                <a:avLst/>
              </a:prstGeom>
              <a:noFill/>
            </p:spPr>
            <p:txBody>
              <a:bodyPr wrap="square" rtlCol="0">
                <a:spAutoFit/>
              </a:bodyPr>
              <a:lstStyle/>
              <a:p>
                <a:r>
                  <a:rPr kumimoji="1" lang="ja-JP" altLang="en-US" dirty="0">
                    <a:solidFill>
                      <a:schemeClr val="bg1"/>
                    </a:solidFill>
                  </a:rPr>
                  <a:t>相対誤差</a:t>
                </a:r>
                <a:r>
                  <a:rPr kumimoji="1" lang="en-US" altLang="ja-JP" dirty="0">
                    <a:solidFill>
                      <a:schemeClr val="bg1"/>
                    </a:solidFill>
                  </a:rPr>
                  <a:t>(%)</a:t>
                </a:r>
                <a:r>
                  <a:rPr kumimoji="1" lang="ja-JP" altLang="en-US" dirty="0">
                    <a:solidFill>
                      <a:schemeClr val="bg1"/>
                    </a:solidFill>
                  </a:rPr>
                  <a:t> </a:t>
                </a:r>
                <a:endParaRPr kumimoji="1" lang="en-US" altLang="ja-JP" dirty="0">
                  <a:solidFill>
                    <a:schemeClr val="bg1"/>
                  </a:solidFill>
                </a:endParaRPr>
              </a:p>
              <a:p>
                <a:endParaRPr kumimoji="1" lang="en-US" altLang="ja-JP" dirty="0">
                  <a:solidFill>
                    <a:schemeClr val="bg1"/>
                  </a:solidFill>
                </a:endParaRPr>
              </a:p>
              <a:p>
                <a:r>
                  <a:rPr lang="en-US" altLang="ja-JP" dirty="0">
                    <a:solidFill>
                      <a:schemeClr val="bg1"/>
                    </a:solidFill>
                  </a:rPr>
                  <a:t>    =  </a:t>
                </a:r>
                <a14:m>
                  <m:oMath xmlns:m="http://schemas.openxmlformats.org/officeDocument/2006/math">
                    <m:f>
                      <m:fPr>
                        <m:ctrlPr>
                          <a:rPr lang="en-US" altLang="ja-JP" i="1" smtClean="0">
                            <a:solidFill>
                              <a:schemeClr val="bg1"/>
                            </a:solidFill>
                            <a:latin typeface="Cambria Math" panose="02040503050406030204" pitchFamily="18" charset="0"/>
                          </a:rPr>
                        </m:ctrlPr>
                      </m:fPr>
                      <m:num>
                        <m:r>
                          <m:rPr>
                            <m:sty m:val="p"/>
                          </m:rPr>
                          <a:rPr lang="en-US" altLang="ja-JP" i="1">
                            <a:solidFill>
                              <a:schemeClr val="bg1"/>
                            </a:solidFill>
                            <a:latin typeface="Cambria Math" panose="02040503050406030204" pitchFamily="18" charset="0"/>
                          </a:rPr>
                          <m:t>TEW</m:t>
                        </m:r>
                        <m:r>
                          <a:rPr lang="ja-JP" altLang="en-US" i="1" smtClean="0">
                            <a:solidFill>
                              <a:schemeClr val="bg1"/>
                            </a:solidFill>
                            <a:latin typeface="Cambria Math" panose="02040503050406030204" pitchFamily="18" charset="0"/>
                          </a:rPr>
                          <m:t>補正</m:t>
                        </m:r>
                        <m:r>
                          <a:rPr lang="ja-JP" altLang="en-US" i="1">
                            <a:solidFill>
                              <a:schemeClr val="bg1"/>
                            </a:solidFill>
                            <a:latin typeface="Cambria Math" panose="02040503050406030204" pitchFamily="18" charset="0"/>
                          </a:rPr>
                          <m:t>画像</m:t>
                        </m:r>
                        <m:r>
                          <a:rPr lang="en-US" altLang="ja-JP" b="0" i="1" smtClean="0">
                            <a:solidFill>
                              <a:schemeClr val="bg1"/>
                            </a:solidFill>
                            <a:latin typeface="Cambria Math" panose="02040503050406030204" pitchFamily="18" charset="0"/>
                          </a:rPr>
                          <m:t>  </m:t>
                        </m:r>
                        <m:r>
                          <a:rPr lang="ja-JP" altLang="en-US" i="1">
                            <a:solidFill>
                              <a:schemeClr val="bg1"/>
                            </a:solidFill>
                            <a:latin typeface="Cambria Math" panose="02040503050406030204" pitchFamily="18" charset="0"/>
                          </a:rPr>
                          <m:t>−</m:t>
                        </m:r>
                        <m:r>
                          <a:rPr lang="en-US" altLang="ja-JP" b="0" i="1" smtClean="0">
                            <a:solidFill>
                              <a:schemeClr val="bg1"/>
                            </a:solidFill>
                            <a:latin typeface="Cambria Math" panose="02040503050406030204" pitchFamily="18" charset="0"/>
                          </a:rPr>
                          <m:t>  </m:t>
                        </m:r>
                        <m:r>
                          <a:rPr lang="ja-JP" altLang="en-US" i="1" smtClean="0">
                            <a:solidFill>
                              <a:schemeClr val="bg1"/>
                            </a:solidFill>
                            <a:latin typeface="Cambria Math" panose="02040503050406030204" pitchFamily="18" charset="0"/>
                          </a:rPr>
                          <m:t>一次</m:t>
                        </m:r>
                        <m:r>
                          <a:rPr lang="ja-JP" altLang="en-US" i="1">
                            <a:solidFill>
                              <a:schemeClr val="bg1"/>
                            </a:solidFill>
                            <a:latin typeface="Cambria Math" panose="02040503050406030204" pitchFamily="18" charset="0"/>
                          </a:rPr>
                          <m:t>光子</m:t>
                        </m:r>
                        <m:r>
                          <a:rPr lang="ja-JP" altLang="en-US" i="1" smtClean="0">
                            <a:solidFill>
                              <a:schemeClr val="bg1"/>
                            </a:solidFill>
                            <a:latin typeface="Cambria Math" panose="02040503050406030204" pitchFamily="18" charset="0"/>
                          </a:rPr>
                          <m:t>画像</m:t>
                        </m:r>
                      </m:num>
                      <m:den>
                        <m:r>
                          <a:rPr lang="ja-JP" altLang="en-US" i="1">
                            <a:solidFill>
                              <a:schemeClr val="bg1"/>
                            </a:solidFill>
                            <a:latin typeface="Cambria Math" panose="02040503050406030204" pitchFamily="18" charset="0"/>
                          </a:rPr>
                          <m:t>一次</m:t>
                        </m:r>
                        <m:r>
                          <a:rPr lang="ja-JP" altLang="en-US" i="1" smtClean="0">
                            <a:solidFill>
                              <a:schemeClr val="bg1"/>
                            </a:solidFill>
                            <a:latin typeface="Cambria Math" panose="02040503050406030204" pitchFamily="18" charset="0"/>
                          </a:rPr>
                          <m:t>光子</m:t>
                        </m:r>
                        <m:r>
                          <a:rPr lang="ja-JP" altLang="en-US" i="1">
                            <a:solidFill>
                              <a:schemeClr val="bg1"/>
                            </a:solidFill>
                            <a:latin typeface="Cambria Math" panose="02040503050406030204" pitchFamily="18" charset="0"/>
                          </a:rPr>
                          <m:t>画像</m:t>
                        </m:r>
                      </m:den>
                    </m:f>
                  </m:oMath>
                </a14:m>
                <a:endParaRPr kumimoji="1" lang="ja-JP" altLang="en-US" dirty="0">
                  <a:solidFill>
                    <a:schemeClr val="bg1"/>
                  </a:solidFill>
                </a:endParaRPr>
              </a:p>
            </p:txBody>
          </p:sp>
        </mc:Choice>
        <mc:Fallback xmlns="">
          <p:sp>
            <p:nvSpPr>
              <p:cNvPr id="28" name="テキスト ボックス 27">
                <a:extLst>
                  <a:ext uri="{FF2B5EF4-FFF2-40B4-BE49-F238E27FC236}">
                    <a16:creationId xmlns:a16="http://schemas.microsoft.com/office/drawing/2014/main" id="{DC416079-054B-8648-91AD-8FD465515B45}"/>
                  </a:ext>
                </a:extLst>
              </p:cNvPr>
              <p:cNvSpPr txBox="1">
                <a:spLocks noRot="1" noChangeAspect="1" noMove="1" noResize="1" noEditPoints="1" noAdjustHandles="1" noChangeArrowheads="1" noChangeShapeType="1" noTextEdit="1"/>
              </p:cNvSpPr>
              <p:nvPr/>
            </p:nvSpPr>
            <p:spPr>
              <a:xfrm>
                <a:off x="8342031" y="2771927"/>
                <a:ext cx="3760993" cy="1170129"/>
              </a:xfrm>
              <a:prstGeom prst="rect">
                <a:avLst/>
              </a:prstGeom>
              <a:blipFill>
                <a:blip r:embed="rId6"/>
                <a:stretch>
                  <a:fillRect l="-1297" t="-3125"/>
                </a:stretch>
              </a:blipFill>
            </p:spPr>
            <p:txBody>
              <a:bodyPr/>
              <a:lstStyle/>
              <a:p>
                <a:r>
                  <a:rPr lang="ja-JP" altLang="en-US">
                    <a:noFill/>
                  </a:rPr>
                  <a:t> </a:t>
                </a:r>
              </a:p>
            </p:txBody>
          </p:sp>
        </mc:Fallback>
      </mc:AlternateContent>
      <p:sp>
        <p:nvSpPr>
          <p:cNvPr id="29" name="矢印: 右 28">
            <a:extLst>
              <a:ext uri="{FF2B5EF4-FFF2-40B4-BE49-F238E27FC236}">
                <a16:creationId xmlns:a16="http://schemas.microsoft.com/office/drawing/2014/main" id="{DC3EEB4E-A8DA-3B6F-D5D7-94D78899D240}"/>
              </a:ext>
            </a:extLst>
          </p:cNvPr>
          <p:cNvSpPr/>
          <p:nvPr/>
        </p:nvSpPr>
        <p:spPr>
          <a:xfrm>
            <a:off x="5619231" y="2448553"/>
            <a:ext cx="384161"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矢印: 右 29">
            <a:extLst>
              <a:ext uri="{FF2B5EF4-FFF2-40B4-BE49-F238E27FC236}">
                <a16:creationId xmlns:a16="http://schemas.microsoft.com/office/drawing/2014/main" id="{E383B09A-3884-7018-3A85-2387099BFF0C}"/>
              </a:ext>
            </a:extLst>
          </p:cNvPr>
          <p:cNvSpPr/>
          <p:nvPr/>
        </p:nvSpPr>
        <p:spPr>
          <a:xfrm>
            <a:off x="5601432" y="4077131"/>
            <a:ext cx="384161"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テキスト ボックス 32">
            <a:extLst>
              <a:ext uri="{FF2B5EF4-FFF2-40B4-BE49-F238E27FC236}">
                <a16:creationId xmlns:a16="http://schemas.microsoft.com/office/drawing/2014/main" id="{29CE9C63-138A-40DE-5B3D-E6A4E2DD1815}"/>
              </a:ext>
            </a:extLst>
          </p:cNvPr>
          <p:cNvSpPr txBox="1"/>
          <p:nvPr/>
        </p:nvSpPr>
        <p:spPr>
          <a:xfrm>
            <a:off x="939439" y="5495776"/>
            <a:ext cx="11121736" cy="1077218"/>
          </a:xfrm>
          <a:prstGeom prst="rect">
            <a:avLst/>
          </a:prstGeom>
          <a:noFill/>
        </p:spPr>
        <p:txBody>
          <a:bodyPr wrap="square" rtlCol="0">
            <a:spAutoFit/>
          </a:bodyPr>
          <a:lstStyle/>
          <a:p>
            <a:r>
              <a:rPr lang="en-US" altLang="ja-JP" sz="3200" dirty="0">
                <a:solidFill>
                  <a:srgbClr val="FFC000"/>
                </a:solidFill>
              </a:rPr>
              <a:t>1MBq</a:t>
            </a:r>
            <a:r>
              <a:rPr lang="ja-JP" altLang="en-US" sz="3200" dirty="0">
                <a:solidFill>
                  <a:srgbClr val="FFC000"/>
                </a:solidFill>
              </a:rPr>
              <a:t>の点線源を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r>
              <a:rPr lang="en-US" altLang="ja-JP" sz="3200" dirty="0">
                <a:solidFill>
                  <a:srgbClr val="FFC000"/>
                </a:solidFill>
              </a:rPr>
              <a:t>TEW</a:t>
            </a:r>
            <a:r>
              <a:rPr lang="ja-JP" altLang="en-US" sz="3200" dirty="0">
                <a:solidFill>
                  <a:srgbClr val="FFC000"/>
                </a:solidFill>
              </a:rPr>
              <a:t>補正画像と一次光子画像</a:t>
            </a:r>
            <a:r>
              <a:rPr lang="en-US" altLang="ja-JP" sz="3200" dirty="0">
                <a:solidFill>
                  <a:srgbClr val="FFC000"/>
                </a:solidFill>
              </a:rPr>
              <a:t>(</a:t>
            </a:r>
            <a:r>
              <a:rPr lang="ja-JP" altLang="en-US" sz="3200" dirty="0">
                <a:solidFill>
                  <a:srgbClr val="FFC000"/>
                </a:solidFill>
              </a:rPr>
              <a:t>真値</a:t>
            </a:r>
            <a:r>
              <a:rPr lang="en-US" altLang="ja-JP" sz="3200" dirty="0">
                <a:solidFill>
                  <a:srgbClr val="FFC000"/>
                </a:solidFill>
              </a:rPr>
              <a:t>)</a:t>
            </a:r>
            <a:r>
              <a:rPr lang="ja-JP" altLang="en-US" sz="3200" dirty="0">
                <a:solidFill>
                  <a:srgbClr val="FFC000"/>
                </a:solidFill>
              </a:rPr>
              <a:t>のカウントを比較した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A00DC84F-41DD-2B99-1C87-17437ED165A3}"/>
              </a:ext>
            </a:extLst>
          </p:cNvPr>
          <p:cNvSpPr/>
          <p:nvPr/>
        </p:nvSpPr>
        <p:spPr>
          <a:xfrm>
            <a:off x="7871536" y="3268229"/>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右 17">
            <a:extLst>
              <a:ext uri="{FF2B5EF4-FFF2-40B4-BE49-F238E27FC236}">
                <a16:creationId xmlns:a16="http://schemas.microsoft.com/office/drawing/2014/main" id="{08FA2DE8-8DCE-AE3D-13BC-88228151F5AF}"/>
              </a:ext>
            </a:extLst>
          </p:cNvPr>
          <p:cNvSpPr/>
          <p:nvPr/>
        </p:nvSpPr>
        <p:spPr>
          <a:xfrm>
            <a:off x="3381898" y="4063719"/>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4" name="図 33" descr="黒い背景に白い文字がある&#10;&#10;低い精度で自動的に生成された説明">
            <a:extLst>
              <a:ext uri="{FF2B5EF4-FFF2-40B4-BE49-F238E27FC236}">
                <a16:creationId xmlns:a16="http://schemas.microsoft.com/office/drawing/2014/main" id="{C9BE8F02-A65E-00FD-ED8C-4C0168C198E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110648" y="3497361"/>
            <a:ext cx="1219200" cy="1219200"/>
          </a:xfrm>
          <a:prstGeom prst="rect">
            <a:avLst/>
          </a:prstGeom>
        </p:spPr>
      </p:pic>
      <p:pic>
        <p:nvPicPr>
          <p:cNvPr id="37" name="図 36" descr="夜に光っている星&#10;&#10;自動的に生成された説明">
            <a:extLst>
              <a:ext uri="{FF2B5EF4-FFF2-40B4-BE49-F238E27FC236}">
                <a16:creationId xmlns:a16="http://schemas.microsoft.com/office/drawing/2014/main" id="{F9FFBC38-69D6-E0EB-7742-5A78D64D17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87429" y="2054844"/>
            <a:ext cx="1219200" cy="1219200"/>
          </a:xfrm>
          <a:prstGeom prst="rect">
            <a:avLst/>
          </a:prstGeom>
        </p:spPr>
      </p:pic>
      <p:pic>
        <p:nvPicPr>
          <p:cNvPr id="38" name="図 37" descr="黒い背景に白い文字がある&#10;&#10;低い精度で自動的に生成された説明">
            <a:extLst>
              <a:ext uri="{FF2B5EF4-FFF2-40B4-BE49-F238E27FC236}">
                <a16:creationId xmlns:a16="http://schemas.microsoft.com/office/drawing/2014/main" id="{8CA5BC74-7AA3-2689-A9A2-351512C245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04608" y="3494601"/>
            <a:ext cx="1219200" cy="1219200"/>
          </a:xfrm>
          <a:prstGeom prst="rect">
            <a:avLst/>
          </a:prstGeom>
        </p:spPr>
      </p:pic>
      <p:sp>
        <p:nvSpPr>
          <p:cNvPr id="13" name="楕円 12">
            <a:extLst>
              <a:ext uri="{FF2B5EF4-FFF2-40B4-BE49-F238E27FC236}">
                <a16:creationId xmlns:a16="http://schemas.microsoft.com/office/drawing/2014/main" id="{AF309525-DDED-268E-B949-547A2B84AF71}"/>
              </a:ext>
            </a:extLst>
          </p:cNvPr>
          <p:cNvSpPr/>
          <p:nvPr/>
        </p:nvSpPr>
        <p:spPr>
          <a:xfrm>
            <a:off x="6809943" y="2581729"/>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楕円 38">
            <a:extLst>
              <a:ext uri="{FF2B5EF4-FFF2-40B4-BE49-F238E27FC236}">
                <a16:creationId xmlns:a16="http://schemas.microsoft.com/office/drawing/2014/main" id="{912249FD-63F2-5782-5C9B-A9D669C018FE}"/>
              </a:ext>
            </a:extLst>
          </p:cNvPr>
          <p:cNvSpPr/>
          <p:nvPr/>
        </p:nvSpPr>
        <p:spPr>
          <a:xfrm>
            <a:off x="6824880" y="4016973"/>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098428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621244" y="4332597"/>
            <a:ext cx="2053343" cy="646331"/>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endParaRPr kumimoji="1" lang="en-US" altLang="ja-JP" dirty="0">
              <a:solidFill>
                <a:schemeClr val="bg1"/>
              </a:solidFill>
            </a:endParaRPr>
          </a:p>
          <a:p>
            <a:pPr algn="ctr"/>
            <a:r>
              <a:rPr lang="en-US" altLang="ja-JP" dirty="0">
                <a:solidFill>
                  <a:schemeClr val="bg1"/>
                </a:solidFill>
              </a:rPr>
              <a:t>+SC,+AC,+PSF </a:t>
            </a:r>
            <a:endParaRPr kumimoji="1" lang="ja-JP" altLang="en-US" dirty="0">
              <a:solidFill>
                <a:schemeClr val="bg1"/>
              </a:solidFill>
            </a:endParaRP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35984" y="4501390"/>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線量測定への影響</a:t>
            </a:r>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2285239" y="4489401"/>
            <a:ext cx="1910343" cy="369332"/>
          </a:xfrm>
          <a:prstGeom prst="rect">
            <a:avLst/>
          </a:prstGeom>
          <a:noFill/>
        </p:spPr>
        <p:txBody>
          <a:bodyPr wrap="square" rtlCol="0">
            <a:spAutoFit/>
          </a:bodyPr>
          <a:lstStyle/>
          <a:p>
            <a:pPr algn="ctr"/>
            <a:r>
              <a:rPr lang="ja-JP" altLang="en-US" dirty="0">
                <a:solidFill>
                  <a:schemeClr val="bg1"/>
                </a:solidFill>
              </a:rPr>
              <a:t>投影</a:t>
            </a:r>
            <a:r>
              <a:rPr kumimoji="1" lang="ja-JP" altLang="en-US" dirty="0">
                <a:solidFill>
                  <a:schemeClr val="bg1"/>
                </a:solidFill>
              </a:rPr>
              <a:t>データ</a:t>
            </a:r>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36473" y="5379166"/>
            <a:ext cx="11997683" cy="1077218"/>
          </a:xfrm>
          <a:prstGeom prst="rect">
            <a:avLst/>
          </a:prstGeom>
          <a:noFill/>
        </p:spPr>
        <p:txBody>
          <a:bodyPr wrap="square" rtlCol="0">
            <a:spAutoFit/>
          </a:bodyPr>
          <a:lstStyle/>
          <a:p>
            <a:pPr algn="ctr"/>
            <a:r>
              <a:rPr lang="en-US" altLang="ja-JP" sz="3200" dirty="0">
                <a:solidFill>
                  <a:srgbClr val="FFC000"/>
                </a:solidFill>
              </a:rPr>
              <a:t>50MBq</a:t>
            </a:r>
            <a:r>
              <a:rPr lang="ja-JP" altLang="en-US" sz="3200" dirty="0">
                <a:solidFill>
                  <a:srgbClr val="FFC000"/>
                </a:solidFill>
              </a:rPr>
              <a:t>の円柱ファントムを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pPr algn="ctr"/>
            <a:r>
              <a:rPr lang="ja-JP" altLang="en-US" sz="3200" dirty="0">
                <a:solidFill>
                  <a:srgbClr val="FFC000"/>
                </a:solidFill>
              </a:rPr>
              <a:t>再構成画像とキャリブレーションファクターから線量を求めた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4261821"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 name="グループ化 17">
            <a:extLst>
              <a:ext uri="{FF2B5EF4-FFF2-40B4-BE49-F238E27FC236}">
                <a16:creationId xmlns:a16="http://schemas.microsoft.com/office/drawing/2014/main" id="{0A7A66B7-A785-A006-72C9-6EA08BBFFAF5}"/>
              </a:ext>
            </a:extLst>
          </p:cNvPr>
          <p:cNvGrpSpPr/>
          <p:nvPr/>
        </p:nvGrpSpPr>
        <p:grpSpPr>
          <a:xfrm>
            <a:off x="462541" y="1929034"/>
            <a:ext cx="1058213" cy="2497574"/>
            <a:chOff x="10098737" y="2014319"/>
            <a:chExt cx="1058213" cy="2497574"/>
          </a:xfrm>
        </p:grpSpPr>
        <p:sp>
          <p:nvSpPr>
            <p:cNvPr id="19" name="楕円 18">
              <a:extLst>
                <a:ext uri="{FF2B5EF4-FFF2-40B4-BE49-F238E27FC236}">
                  <a16:creationId xmlns:a16="http://schemas.microsoft.com/office/drawing/2014/main" id="{A6E36DFB-C001-16B7-BAE3-B4C361459837}"/>
                </a:ext>
              </a:extLst>
            </p:cNvPr>
            <p:cNvSpPr/>
            <p:nvPr/>
          </p:nvSpPr>
          <p:spPr>
            <a:xfrm>
              <a:off x="10098737" y="3453682"/>
              <a:ext cx="1058211" cy="1058211"/>
            </a:xfrm>
            <a:prstGeom prst="ellipse">
              <a:avLst/>
            </a:prstGeom>
            <a:solidFill>
              <a:schemeClr val="bg1">
                <a:alpha val="70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楕円 33">
              <a:extLst>
                <a:ext uri="{FF2B5EF4-FFF2-40B4-BE49-F238E27FC236}">
                  <a16:creationId xmlns:a16="http://schemas.microsoft.com/office/drawing/2014/main" id="{8DDC1672-4C1B-C34C-1AA1-F02F61BD6470}"/>
                </a:ext>
              </a:extLst>
            </p:cNvPr>
            <p:cNvSpPr/>
            <p:nvPr/>
          </p:nvSpPr>
          <p:spPr>
            <a:xfrm>
              <a:off x="10198981" y="3870450"/>
              <a:ext cx="205436" cy="205436"/>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楕円 34">
              <a:extLst>
                <a:ext uri="{FF2B5EF4-FFF2-40B4-BE49-F238E27FC236}">
                  <a16:creationId xmlns:a16="http://schemas.microsoft.com/office/drawing/2014/main" id="{8FEFCB1A-58F1-52CE-472B-8188AC27962B}"/>
                </a:ext>
              </a:extLst>
            </p:cNvPr>
            <p:cNvSpPr/>
            <p:nvPr/>
          </p:nvSpPr>
          <p:spPr>
            <a:xfrm>
              <a:off x="10374394" y="4159957"/>
              <a:ext cx="172231" cy="172231"/>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10053B71-FD8E-1143-D62E-F5E2A20A9057}"/>
                </a:ext>
              </a:extLst>
            </p:cNvPr>
            <p:cNvSpPr/>
            <p:nvPr/>
          </p:nvSpPr>
          <p:spPr>
            <a:xfrm>
              <a:off x="10723789" y="4149562"/>
              <a:ext cx="156451" cy="156451"/>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538D549F-161A-8B9D-F3D6-3132B15D0C93}"/>
                </a:ext>
              </a:extLst>
            </p:cNvPr>
            <p:cNvSpPr/>
            <p:nvPr/>
          </p:nvSpPr>
          <p:spPr>
            <a:xfrm>
              <a:off x="10946129" y="3907909"/>
              <a:ext cx="130518" cy="13051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90A0B787-D83F-1C82-2DE8-3A61AB0F786D}"/>
                </a:ext>
              </a:extLst>
            </p:cNvPr>
            <p:cNvSpPr/>
            <p:nvPr/>
          </p:nvSpPr>
          <p:spPr>
            <a:xfrm>
              <a:off x="10768521" y="3669372"/>
              <a:ext cx="106740" cy="106740"/>
            </a:xfrm>
            <a:prstGeom prst="ellips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楕円 38">
              <a:extLst>
                <a:ext uri="{FF2B5EF4-FFF2-40B4-BE49-F238E27FC236}">
                  <a16:creationId xmlns:a16="http://schemas.microsoft.com/office/drawing/2014/main" id="{F6061AE6-3A3E-3644-43DC-24169876B3A4}"/>
                </a:ext>
              </a:extLst>
            </p:cNvPr>
            <p:cNvSpPr/>
            <p:nvPr/>
          </p:nvSpPr>
          <p:spPr>
            <a:xfrm>
              <a:off x="10413146" y="3653543"/>
              <a:ext cx="78316" cy="78316"/>
            </a:xfrm>
            <a:prstGeom prst="ellipse">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柱 39">
              <a:extLst>
                <a:ext uri="{FF2B5EF4-FFF2-40B4-BE49-F238E27FC236}">
                  <a16:creationId xmlns:a16="http://schemas.microsoft.com/office/drawing/2014/main" id="{C558E276-549D-7A60-12AC-DB69B00C8727}"/>
                </a:ext>
              </a:extLst>
            </p:cNvPr>
            <p:cNvSpPr/>
            <p:nvPr/>
          </p:nvSpPr>
          <p:spPr>
            <a:xfrm>
              <a:off x="10098738" y="2014319"/>
              <a:ext cx="1058212" cy="1209675"/>
            </a:xfrm>
            <a:prstGeom prst="can">
              <a:avLst/>
            </a:prstGeom>
            <a:solidFill>
              <a:schemeClr val="bg1">
                <a:alpha val="7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楕円 40">
              <a:extLst>
                <a:ext uri="{FF2B5EF4-FFF2-40B4-BE49-F238E27FC236}">
                  <a16:creationId xmlns:a16="http://schemas.microsoft.com/office/drawing/2014/main" id="{CD0DFCF7-EF74-96E6-A3CD-56D5B8DB0C45}"/>
                </a:ext>
              </a:extLst>
            </p:cNvPr>
            <p:cNvSpPr/>
            <p:nvPr/>
          </p:nvSpPr>
          <p:spPr>
            <a:xfrm>
              <a:off x="10190545" y="2503793"/>
              <a:ext cx="213872" cy="230726"/>
            </a:xfrm>
            <a:prstGeom prst="ellipse">
              <a:avLst/>
            </a:prstGeom>
            <a:solidFill>
              <a:schemeClr val="accent6">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楕円 41">
              <a:extLst>
                <a:ext uri="{FF2B5EF4-FFF2-40B4-BE49-F238E27FC236}">
                  <a16:creationId xmlns:a16="http://schemas.microsoft.com/office/drawing/2014/main" id="{A66FCA62-A9A3-EE4E-9BB3-F754738F76FC}"/>
                </a:ext>
              </a:extLst>
            </p:cNvPr>
            <p:cNvSpPr/>
            <p:nvPr/>
          </p:nvSpPr>
          <p:spPr>
            <a:xfrm>
              <a:off x="10475580" y="2430850"/>
              <a:ext cx="87583" cy="94485"/>
            </a:xfrm>
            <a:prstGeom prst="ellipse">
              <a:avLst/>
            </a:prstGeom>
            <a:solidFill>
              <a:srgbClr val="FFFF00">
                <a:alpha val="42000"/>
              </a:srgb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楕円 42">
              <a:extLst>
                <a:ext uri="{FF2B5EF4-FFF2-40B4-BE49-F238E27FC236}">
                  <a16:creationId xmlns:a16="http://schemas.microsoft.com/office/drawing/2014/main" id="{F2A05F0E-3BD9-024F-07AB-EA4D4F8802DA}"/>
                </a:ext>
              </a:extLst>
            </p:cNvPr>
            <p:cNvSpPr/>
            <p:nvPr/>
          </p:nvSpPr>
          <p:spPr>
            <a:xfrm>
              <a:off x="10429875" y="2658387"/>
              <a:ext cx="178994" cy="193099"/>
            </a:xfrm>
            <a:prstGeom prst="ellipse">
              <a:avLst/>
            </a:prstGeom>
            <a:solidFill>
              <a:schemeClr val="accent5">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楕円 43">
              <a:extLst>
                <a:ext uri="{FF2B5EF4-FFF2-40B4-BE49-F238E27FC236}">
                  <a16:creationId xmlns:a16="http://schemas.microsoft.com/office/drawing/2014/main" id="{8A3D6F6B-EB86-571D-0C3C-5B7EA2999D69}"/>
                </a:ext>
              </a:extLst>
            </p:cNvPr>
            <p:cNvSpPr/>
            <p:nvPr/>
          </p:nvSpPr>
          <p:spPr>
            <a:xfrm>
              <a:off x="10729696" y="2670113"/>
              <a:ext cx="157253" cy="169645"/>
            </a:xfrm>
            <a:prstGeom prst="ellipse">
              <a:avLst/>
            </a:prstGeom>
            <a:solidFill>
              <a:schemeClr val="accent4">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73C5602-11EA-A88D-D983-1E843D171012}"/>
                </a:ext>
              </a:extLst>
            </p:cNvPr>
            <p:cNvSpPr/>
            <p:nvPr/>
          </p:nvSpPr>
          <p:spPr>
            <a:xfrm>
              <a:off x="10952208" y="2553934"/>
              <a:ext cx="118361" cy="127688"/>
            </a:xfrm>
            <a:prstGeom prst="ellipse">
              <a:avLst/>
            </a:prstGeom>
            <a:solidFill>
              <a:schemeClr val="accent2">
                <a:lumMod val="40000"/>
                <a:lumOff val="6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楕円 45">
              <a:extLst>
                <a:ext uri="{FF2B5EF4-FFF2-40B4-BE49-F238E27FC236}">
                  <a16:creationId xmlns:a16="http://schemas.microsoft.com/office/drawing/2014/main" id="{80867E09-1344-D9E9-054D-9257AC988C0B}"/>
                </a:ext>
              </a:extLst>
            </p:cNvPr>
            <p:cNvSpPr/>
            <p:nvPr/>
          </p:nvSpPr>
          <p:spPr>
            <a:xfrm>
              <a:off x="10749896" y="2426752"/>
              <a:ext cx="104239" cy="112454"/>
            </a:xfrm>
            <a:prstGeom prst="ellipse">
              <a:avLst/>
            </a:prstGeom>
            <a:solidFill>
              <a:schemeClr val="bg2">
                <a:lumMod val="9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pic>
        <p:nvPicPr>
          <p:cNvPr id="47" name="図 46" descr="黒い背景に白い文字がある&#10;&#10;低い精度で自動的に生成された説明">
            <a:extLst>
              <a:ext uri="{FF2B5EF4-FFF2-40B4-BE49-F238E27FC236}">
                <a16:creationId xmlns:a16="http://schemas.microsoft.com/office/drawing/2014/main" id="{0FE2CCC3-948E-2483-E5E7-C9944ED2D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9935" y="2749768"/>
            <a:ext cx="1219200" cy="1219200"/>
          </a:xfrm>
          <a:prstGeom prst="rect">
            <a:avLst/>
          </a:prstGeom>
          <a:noFill/>
          <a:ln w="19050">
            <a:noFill/>
          </a:ln>
        </p:spPr>
      </p:pic>
      <p:pic>
        <p:nvPicPr>
          <p:cNvPr id="49" name="図 48" descr="持つ, 雪, 砂浜, 立つ が含まれている画像&#10;&#10;自動的に生成された説明">
            <a:extLst>
              <a:ext uri="{FF2B5EF4-FFF2-40B4-BE49-F238E27FC236}">
                <a16:creationId xmlns:a16="http://schemas.microsoft.com/office/drawing/2014/main" id="{05019952-DA91-F9C6-1E28-AC3F353E5A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38316" y="2669650"/>
            <a:ext cx="1219200" cy="1219200"/>
          </a:xfrm>
          <a:prstGeom prst="rect">
            <a:avLst/>
          </a:prstGeom>
        </p:spPr>
      </p:pic>
      <p:sp>
        <p:nvSpPr>
          <p:cNvPr id="51" name="矢印: 右 50">
            <a:extLst>
              <a:ext uri="{FF2B5EF4-FFF2-40B4-BE49-F238E27FC236}">
                <a16:creationId xmlns:a16="http://schemas.microsoft.com/office/drawing/2014/main" id="{66AC5ED9-0D54-F76F-5F46-6034B6F93437}"/>
              </a:ext>
            </a:extLst>
          </p:cNvPr>
          <p:cNvSpPr/>
          <p:nvPr/>
        </p:nvSpPr>
        <p:spPr>
          <a:xfrm>
            <a:off x="6630202" y="315383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50" name="図 49" descr="持つ, 雪, 砂浜, 立つ が含まれている画像&#10;&#10;自動的に生成された説明">
            <a:extLst>
              <a:ext uri="{FF2B5EF4-FFF2-40B4-BE49-F238E27FC236}">
                <a16:creationId xmlns:a16="http://schemas.microsoft.com/office/drawing/2014/main" id="{A4F23D46-4315-7F2E-D6A0-5F98777E9E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8354" y="2000426"/>
            <a:ext cx="1219201" cy="1219200"/>
          </a:xfrm>
          <a:prstGeom prst="rect">
            <a:avLst/>
          </a:prstGeom>
        </p:spPr>
      </p:pic>
      <p:sp>
        <p:nvSpPr>
          <p:cNvPr id="52" name="テキスト ボックス 51">
            <a:extLst>
              <a:ext uri="{FF2B5EF4-FFF2-40B4-BE49-F238E27FC236}">
                <a16:creationId xmlns:a16="http://schemas.microsoft.com/office/drawing/2014/main" id="{DE9985A2-EE97-2F6F-6F8A-9F5E58AC19CA}"/>
              </a:ext>
            </a:extLst>
          </p:cNvPr>
          <p:cNvSpPr txBox="1"/>
          <p:nvPr/>
        </p:nvSpPr>
        <p:spPr>
          <a:xfrm>
            <a:off x="7190509" y="3310486"/>
            <a:ext cx="2462645" cy="923330"/>
          </a:xfrm>
          <a:prstGeom prst="rect">
            <a:avLst/>
          </a:prstGeom>
          <a:noFill/>
        </p:spPr>
        <p:txBody>
          <a:bodyPr wrap="square" rtlCol="0">
            <a:spAutoFit/>
          </a:bodyPr>
          <a:lstStyle/>
          <a:p>
            <a:pPr algn="ctr"/>
            <a:r>
              <a:rPr kumimoji="1" lang="en-US" altLang="ja-JP" dirty="0">
                <a:solidFill>
                  <a:schemeClr val="bg1"/>
                </a:solidFill>
              </a:rPr>
              <a:t>×</a:t>
            </a:r>
            <a:endParaRPr lang="en-US" altLang="ja-JP" dirty="0">
              <a:solidFill>
                <a:schemeClr val="bg1"/>
              </a:solidFill>
            </a:endParaRPr>
          </a:p>
          <a:p>
            <a:pPr algn="ctr"/>
            <a:r>
              <a:rPr kumimoji="1" lang="ja-JP" altLang="en-US" dirty="0">
                <a:solidFill>
                  <a:schemeClr val="bg1"/>
                </a:solidFill>
              </a:rPr>
              <a:t>キャリブレーションファクタ</a:t>
            </a:r>
            <a:endParaRPr kumimoji="1" lang="en-US" altLang="ja-JP" dirty="0">
              <a:solidFill>
                <a:schemeClr val="bg1"/>
              </a:solidFill>
            </a:endParaRPr>
          </a:p>
        </p:txBody>
      </p:sp>
      <p:sp>
        <p:nvSpPr>
          <p:cNvPr id="53" name="矢印: 右 52">
            <a:extLst>
              <a:ext uri="{FF2B5EF4-FFF2-40B4-BE49-F238E27FC236}">
                <a16:creationId xmlns:a16="http://schemas.microsoft.com/office/drawing/2014/main" id="{DE5D1507-F426-AFF3-EA9A-5DB0D7A40409}"/>
              </a:ext>
            </a:extLst>
          </p:cNvPr>
          <p:cNvSpPr/>
          <p:nvPr/>
        </p:nvSpPr>
        <p:spPr>
          <a:xfrm>
            <a:off x="9741899" y="3166978"/>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58" name="グループ化 57">
            <a:extLst>
              <a:ext uri="{FF2B5EF4-FFF2-40B4-BE49-F238E27FC236}">
                <a16:creationId xmlns:a16="http://schemas.microsoft.com/office/drawing/2014/main" id="{18A493F1-59EE-925E-5280-61758F0357BD}"/>
              </a:ext>
            </a:extLst>
          </p:cNvPr>
          <p:cNvGrpSpPr/>
          <p:nvPr/>
        </p:nvGrpSpPr>
        <p:grpSpPr>
          <a:xfrm>
            <a:off x="10518394" y="2671121"/>
            <a:ext cx="1219200" cy="1219200"/>
            <a:chOff x="9248970" y="2909246"/>
            <a:chExt cx="1219200" cy="1219200"/>
          </a:xfrm>
        </p:grpSpPr>
        <p:pic>
          <p:nvPicPr>
            <p:cNvPr id="54" name="図 53" descr="持つ, 雪, 砂浜, 立つ が含まれている画像&#10;&#10;自動的に生成された説明">
              <a:extLst>
                <a:ext uri="{FF2B5EF4-FFF2-40B4-BE49-F238E27FC236}">
                  <a16:creationId xmlns:a16="http://schemas.microsoft.com/office/drawing/2014/main" id="{E9A9C136-050F-8CEE-B105-3AC29579BE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48970" y="2909246"/>
              <a:ext cx="1219200" cy="1219200"/>
            </a:xfrm>
            <a:prstGeom prst="rect">
              <a:avLst/>
            </a:prstGeom>
          </p:spPr>
        </p:pic>
        <p:sp>
          <p:nvSpPr>
            <p:cNvPr id="55" name="楕円 54">
              <a:extLst>
                <a:ext uri="{FF2B5EF4-FFF2-40B4-BE49-F238E27FC236}">
                  <a16:creationId xmlns:a16="http://schemas.microsoft.com/office/drawing/2014/main" id="{E5071618-7BDE-EC2A-5D53-8DF1532FDD95}"/>
                </a:ext>
              </a:extLst>
            </p:cNvPr>
            <p:cNvSpPr/>
            <p:nvPr/>
          </p:nvSpPr>
          <p:spPr>
            <a:xfrm>
              <a:off x="9543644" y="3191649"/>
              <a:ext cx="622706" cy="62270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56" name="テキスト ボックス 55">
            <a:extLst>
              <a:ext uri="{FF2B5EF4-FFF2-40B4-BE49-F238E27FC236}">
                <a16:creationId xmlns:a16="http://schemas.microsoft.com/office/drawing/2014/main" id="{920BBC3D-533A-CF39-2AF7-93F95E24D493}"/>
              </a:ext>
            </a:extLst>
          </p:cNvPr>
          <p:cNvSpPr txBox="1"/>
          <p:nvPr/>
        </p:nvSpPr>
        <p:spPr>
          <a:xfrm>
            <a:off x="7525911" y="4501390"/>
            <a:ext cx="2053343" cy="369332"/>
          </a:xfrm>
          <a:prstGeom prst="rect">
            <a:avLst/>
          </a:prstGeom>
          <a:noFill/>
        </p:spPr>
        <p:txBody>
          <a:bodyPr wrap="square" rtlCol="0">
            <a:spAutoFit/>
          </a:bodyPr>
          <a:lstStyle/>
          <a:p>
            <a:pPr algn="ctr"/>
            <a:r>
              <a:rPr kumimoji="1" lang="en-US" altLang="ja-JP" dirty="0" err="1">
                <a:solidFill>
                  <a:schemeClr val="bg1"/>
                </a:solidFill>
              </a:rPr>
              <a:t>Bq</a:t>
            </a:r>
            <a:r>
              <a:rPr kumimoji="1" lang="en-US" altLang="ja-JP" dirty="0">
                <a:solidFill>
                  <a:schemeClr val="bg1"/>
                </a:solidFill>
              </a:rPr>
              <a:t>/</a:t>
            </a:r>
            <a:r>
              <a:rPr kumimoji="1" lang="ja-JP" altLang="en-US" dirty="0">
                <a:solidFill>
                  <a:schemeClr val="bg1"/>
                </a:solidFill>
              </a:rPr>
              <a:t>ｍ</a:t>
            </a:r>
            <a:r>
              <a:rPr kumimoji="1" lang="en-US" altLang="ja-JP" dirty="0">
                <a:solidFill>
                  <a:schemeClr val="bg1"/>
                </a:solidFill>
              </a:rPr>
              <a:t>L</a:t>
            </a:r>
            <a:r>
              <a:rPr kumimoji="1" lang="ja-JP" altLang="en-US" dirty="0">
                <a:solidFill>
                  <a:schemeClr val="bg1"/>
                </a:solidFill>
              </a:rPr>
              <a:t>変換</a:t>
            </a:r>
          </a:p>
        </p:txBody>
      </p:sp>
      <p:sp>
        <p:nvSpPr>
          <p:cNvPr id="59" name="矢印: 右 58">
            <a:extLst>
              <a:ext uri="{FF2B5EF4-FFF2-40B4-BE49-F238E27FC236}">
                <a16:creationId xmlns:a16="http://schemas.microsoft.com/office/drawing/2014/main" id="{CE962555-46EB-5E6C-8B1E-7D1D007CA943}"/>
              </a:ext>
            </a:extLst>
          </p:cNvPr>
          <p:cNvSpPr/>
          <p:nvPr/>
        </p:nvSpPr>
        <p:spPr>
          <a:xfrm>
            <a:off x="1893440"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0" name="テキスト ボックス 59">
            <a:extLst>
              <a:ext uri="{FF2B5EF4-FFF2-40B4-BE49-F238E27FC236}">
                <a16:creationId xmlns:a16="http://schemas.microsoft.com/office/drawing/2014/main" id="{B506546B-F5C2-6136-4D7B-00A97A1AF7C8}"/>
              </a:ext>
            </a:extLst>
          </p:cNvPr>
          <p:cNvSpPr txBox="1"/>
          <p:nvPr/>
        </p:nvSpPr>
        <p:spPr>
          <a:xfrm>
            <a:off x="36474" y="4501390"/>
            <a:ext cx="1910343" cy="646331"/>
          </a:xfrm>
          <a:prstGeom prst="rect">
            <a:avLst/>
          </a:prstGeom>
          <a:noFill/>
        </p:spPr>
        <p:txBody>
          <a:bodyPr wrap="square" rtlCol="0">
            <a:spAutoFit/>
          </a:bodyPr>
          <a:lstStyle/>
          <a:p>
            <a:pPr algn="ctr"/>
            <a:r>
              <a:rPr kumimoji="1" lang="ja-JP" altLang="en-US" dirty="0">
                <a:solidFill>
                  <a:schemeClr val="bg1"/>
                </a:solidFill>
              </a:rPr>
              <a:t>円柱ファントム</a:t>
            </a:r>
            <a:endParaRPr kumimoji="1" lang="en-US" altLang="ja-JP" dirty="0">
              <a:solidFill>
                <a:schemeClr val="bg1"/>
              </a:solidFill>
            </a:endParaRPr>
          </a:p>
          <a:p>
            <a:pPr algn="ctr"/>
            <a:r>
              <a:rPr lang="ja-JP" altLang="en-US" dirty="0">
                <a:solidFill>
                  <a:schemeClr val="bg1"/>
                </a:solidFill>
              </a:rPr>
              <a:t>（合計</a:t>
            </a:r>
            <a:r>
              <a:rPr lang="en-US" altLang="ja-JP" dirty="0">
                <a:solidFill>
                  <a:schemeClr val="bg1"/>
                </a:solidFill>
              </a:rPr>
              <a:t>50MBq</a:t>
            </a:r>
            <a:r>
              <a:rPr lang="ja-JP" altLang="en-US" dirty="0">
                <a:solidFill>
                  <a:schemeClr val="bg1"/>
                </a:solidFill>
              </a:rPr>
              <a:t>）</a:t>
            </a:r>
            <a:endParaRPr kumimoji="1" lang="ja-JP" altLang="en-US" dirty="0">
              <a:solidFill>
                <a:schemeClr val="bg1"/>
              </a:solidFill>
            </a:endParaRPr>
          </a:p>
        </p:txBody>
      </p:sp>
    </p:spTree>
    <p:extLst>
      <p:ext uri="{BB962C8B-B14F-4D97-AF65-F5344CB8AC3E}">
        <p14:creationId xmlns:p14="http://schemas.microsoft.com/office/powerpoint/2010/main" val="6920801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3286034170"/>
              </p:ext>
            </p:extLst>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Tree>
    <p:extLst>
      <p:ext uri="{BB962C8B-B14F-4D97-AF65-F5344CB8AC3E}">
        <p14:creationId xmlns:p14="http://schemas.microsoft.com/office/powerpoint/2010/main" val="1318590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BF894-4B4D-4622-9873-26C48200D346}"/>
            </a:ext>
          </a:extLst>
        </p:cNvPr>
        <p:cNvGrpSpPr/>
        <p:nvPr/>
      </p:nvGrpSpPr>
      <p:grpSpPr>
        <a:xfrm>
          <a:off x="0" y="0"/>
          <a:ext cx="0" cy="0"/>
          <a:chOff x="0" y="0"/>
          <a:chExt cx="0" cy="0"/>
        </a:xfrm>
      </p:grpSpPr>
      <p:sp>
        <p:nvSpPr>
          <p:cNvPr id="3" name="タイトル 1">
            <a:extLst>
              <a:ext uri="{FF2B5EF4-FFF2-40B4-BE49-F238E27FC236}">
                <a16:creationId xmlns:a16="http://schemas.microsoft.com/office/drawing/2014/main" id="{ADEABACC-7A93-5C19-1E8D-779B7BC2B65C}"/>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F3DEFB6B-2C3C-D3D6-9663-7116531C18B9}"/>
              </a:ext>
            </a:extLst>
          </p:cNvPr>
          <p:cNvGrpSpPr/>
          <p:nvPr/>
        </p:nvGrpSpPr>
        <p:grpSpPr>
          <a:xfrm>
            <a:off x="491319" y="2184400"/>
            <a:ext cx="3705099" cy="2990843"/>
            <a:chOff x="5606650" y="349452"/>
            <a:chExt cx="3732177" cy="2833845"/>
          </a:xfrm>
        </p:grpSpPr>
        <p:graphicFrame>
          <p:nvGraphicFramePr>
            <p:cNvPr id="4" name="グラフ 3">
              <a:extLst>
                <a:ext uri="{FF2B5EF4-FFF2-40B4-BE49-F238E27FC236}">
                  <a16:creationId xmlns:a16="http://schemas.microsoft.com/office/drawing/2014/main" id="{F50229A0-FD38-D27A-62E3-25E8A85483EF}"/>
                </a:ext>
              </a:extLst>
            </p:cNvPr>
            <p:cNvGraphicFramePr>
              <a:graphicFrameLocks/>
            </p:cNvGraphicFramePr>
            <p:nvPr>
              <p:extLst>
                <p:ext uri="{D42A27DB-BD31-4B8C-83A1-F6EECF244321}">
                  <p14:modId xmlns:p14="http://schemas.microsoft.com/office/powerpoint/2010/main" val="4266079396"/>
                </p:ext>
              </p:extLst>
            </p:nvPr>
          </p:nvGraphicFramePr>
          <p:xfrm>
            <a:off x="5606650" y="349452"/>
            <a:ext cx="3732177"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B1D19466-80C7-3639-917D-1BBC79746E8F}"/>
                </a:ext>
              </a:extLst>
            </p:cNvPr>
            <p:cNvGrpSpPr/>
            <p:nvPr/>
          </p:nvGrpSpPr>
          <p:grpSpPr>
            <a:xfrm>
              <a:off x="6452194" y="1233282"/>
              <a:ext cx="898973" cy="247877"/>
              <a:chOff x="5716427" y="1209181"/>
              <a:chExt cx="898973" cy="247877"/>
            </a:xfrm>
          </p:grpSpPr>
          <p:sp>
            <p:nvSpPr>
              <p:cNvPr id="5" name="テキスト ボックス 10">
                <a:extLst>
                  <a:ext uri="{FF2B5EF4-FFF2-40B4-BE49-F238E27FC236}">
                    <a16:creationId xmlns:a16="http://schemas.microsoft.com/office/drawing/2014/main" id="{2ED8D213-ABA6-00E3-46F6-4F4099D75515}"/>
                  </a:ext>
                </a:extLst>
              </p:cNvPr>
              <p:cNvSpPr txBox="1"/>
              <p:nvPr/>
            </p:nvSpPr>
            <p:spPr>
              <a:xfrm>
                <a:off x="5716427" y="1209181"/>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0CF61F86-8DD9-4C4E-A93E-859605749663}"/>
                  </a:ext>
                </a:extLst>
              </p:cNvPr>
              <p:cNvCxnSpPr>
                <a:cxnSpLocks/>
              </p:cNvCxnSpPr>
              <p:nvPr/>
            </p:nvCxnSpPr>
            <p:spPr>
              <a:xfrm>
                <a:off x="6273642" y="1324907"/>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7FCCD1A4-7631-ACE2-63F0-DBE7987F0233}"/>
                </a:ext>
              </a:extLst>
            </p:cNvPr>
            <p:cNvSpPr txBox="1"/>
            <p:nvPr/>
          </p:nvSpPr>
          <p:spPr>
            <a:xfrm>
              <a:off x="6374957" y="2346939"/>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8" name="直線矢印コネクタ 7">
              <a:extLst>
                <a:ext uri="{FF2B5EF4-FFF2-40B4-BE49-F238E27FC236}">
                  <a16:creationId xmlns:a16="http://schemas.microsoft.com/office/drawing/2014/main" id="{5D550FBC-30D3-5073-4CBB-3B9B3FF52587}"/>
                </a:ext>
              </a:extLst>
            </p:cNvPr>
            <p:cNvCxnSpPr>
              <a:cxnSpLocks/>
            </p:cNvCxnSpPr>
            <p:nvPr/>
          </p:nvCxnSpPr>
          <p:spPr>
            <a:xfrm>
              <a:off x="7065401" y="246185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4FB22A20-52B9-F3E5-D712-C22A0E0033F4}"/>
                </a:ext>
              </a:extLst>
            </p:cNvPr>
            <p:cNvSpPr txBox="1"/>
            <p:nvPr/>
          </p:nvSpPr>
          <p:spPr>
            <a:xfrm>
              <a:off x="7638848" y="1018412"/>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89F6A4B3-5055-FFDF-207A-2B3D360DFAA2}"/>
                </a:ext>
              </a:extLst>
            </p:cNvPr>
            <p:cNvCxnSpPr>
              <a:cxnSpLocks/>
            </p:cNvCxnSpPr>
            <p:nvPr/>
          </p:nvCxnSpPr>
          <p:spPr>
            <a:xfrm flipH="1">
              <a:off x="7557081" y="1280016"/>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43877C48-D524-BAB9-F650-BA02536B36DF}"/>
                </a:ext>
              </a:extLst>
            </p:cNvPr>
            <p:cNvSpPr txBox="1"/>
            <p:nvPr/>
          </p:nvSpPr>
          <p:spPr>
            <a:xfrm>
              <a:off x="7942441" y="1916030"/>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450074CE-A3FD-169F-C7BD-C356D29CFF63}"/>
                </a:ext>
              </a:extLst>
            </p:cNvPr>
            <p:cNvCxnSpPr>
              <a:cxnSpLocks/>
            </p:cNvCxnSpPr>
            <p:nvPr/>
          </p:nvCxnSpPr>
          <p:spPr>
            <a:xfrm flipH="1">
              <a:off x="8368534" y="2098771"/>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9784DC23-4A75-7843-F96A-469C991339F5}"/>
              </a:ext>
            </a:extLst>
          </p:cNvPr>
          <p:cNvGraphicFramePr>
            <a:graphicFrameLocks/>
          </p:cNvGraphicFramePr>
          <p:nvPr>
            <p:extLst>
              <p:ext uri="{D42A27DB-BD31-4B8C-83A1-F6EECF244321}">
                <p14:modId xmlns:p14="http://schemas.microsoft.com/office/powerpoint/2010/main" val="1653765625"/>
              </p:ext>
            </p:extLst>
          </p:nvPr>
        </p:nvGraphicFramePr>
        <p:xfrm>
          <a:off x="4237683" y="2184400"/>
          <a:ext cx="1242821" cy="299084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EAE8C77-F804-E1F1-6EA8-3E3752535C7D}"/>
              </a:ext>
            </a:extLst>
          </p:cNvPr>
          <p:cNvGraphicFramePr>
            <a:graphicFrameLocks/>
          </p:cNvGraphicFramePr>
          <p:nvPr>
            <p:extLst>
              <p:ext uri="{D42A27DB-BD31-4B8C-83A1-F6EECF244321}">
                <p14:modId xmlns:p14="http://schemas.microsoft.com/office/powerpoint/2010/main" val="3751384806"/>
              </p:ext>
            </p:extLst>
          </p:nvPr>
        </p:nvGraphicFramePr>
        <p:xfrm>
          <a:off x="8073010" y="2184400"/>
          <a:ext cx="1242821" cy="299084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FBADDA0E-58AB-9CA8-FC5D-2D651F52D6F4}"/>
              </a:ext>
            </a:extLst>
          </p:cNvPr>
          <p:cNvGraphicFramePr>
            <a:graphicFrameLocks/>
          </p:cNvGraphicFramePr>
          <p:nvPr>
            <p:extLst>
              <p:ext uri="{D42A27DB-BD31-4B8C-83A1-F6EECF244321}">
                <p14:modId xmlns:p14="http://schemas.microsoft.com/office/powerpoint/2010/main" val="1373629972"/>
              </p:ext>
            </p:extLst>
          </p:nvPr>
        </p:nvGraphicFramePr>
        <p:xfrm>
          <a:off x="5519768" y="2184400"/>
          <a:ext cx="1242821" cy="2990843"/>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64629868-6E3E-7FDD-1F21-6FA319C0B48A}"/>
              </a:ext>
            </a:extLst>
          </p:cNvPr>
          <p:cNvGraphicFramePr>
            <a:graphicFrameLocks/>
          </p:cNvGraphicFramePr>
          <p:nvPr>
            <p:extLst>
              <p:ext uri="{D42A27DB-BD31-4B8C-83A1-F6EECF244321}">
                <p14:modId xmlns:p14="http://schemas.microsoft.com/office/powerpoint/2010/main" val="2969557865"/>
              </p:ext>
            </p:extLst>
          </p:nvPr>
        </p:nvGraphicFramePr>
        <p:xfrm>
          <a:off x="6805179" y="2184400"/>
          <a:ext cx="1242821" cy="299084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1" name="表 10">
            <a:extLst>
              <a:ext uri="{FF2B5EF4-FFF2-40B4-BE49-F238E27FC236}">
                <a16:creationId xmlns:a16="http://schemas.microsoft.com/office/drawing/2014/main" id="{A6A829B3-DC9E-037A-00F9-C5535622B6A0}"/>
              </a:ext>
            </a:extLst>
          </p:cNvPr>
          <p:cNvGraphicFramePr>
            <a:graphicFrameLocks noGrp="1"/>
          </p:cNvGraphicFramePr>
          <p:nvPr>
            <p:extLst>
              <p:ext uri="{D42A27DB-BD31-4B8C-83A1-F6EECF244321}">
                <p14:modId xmlns:p14="http://schemas.microsoft.com/office/powerpoint/2010/main" val="3053482052"/>
              </p:ext>
            </p:extLst>
          </p:nvPr>
        </p:nvGraphicFramePr>
        <p:xfrm>
          <a:off x="491319" y="1103326"/>
          <a:ext cx="11446210" cy="914400"/>
        </p:xfrm>
        <a:graphic>
          <a:graphicData uri="http://schemas.openxmlformats.org/drawingml/2006/table">
            <a:tbl>
              <a:tblPr firstRow="1" bandRow="1">
                <a:tableStyleId>{5C22544A-7EE6-4342-B048-85BDC9FD1C3A}</a:tableStyleId>
              </a:tblPr>
              <a:tblGrid>
                <a:gridCol w="5663821">
                  <a:extLst>
                    <a:ext uri="{9D8B030D-6E8A-4147-A177-3AD203B41FA5}">
                      <a16:colId xmlns:a16="http://schemas.microsoft.com/office/drawing/2014/main" val="4156859998"/>
                    </a:ext>
                  </a:extLst>
                </a:gridCol>
                <a:gridCol w="3916908">
                  <a:extLst>
                    <a:ext uri="{9D8B030D-6E8A-4147-A177-3AD203B41FA5}">
                      <a16:colId xmlns:a16="http://schemas.microsoft.com/office/drawing/2014/main" val="1192791173"/>
                    </a:ext>
                  </a:extLst>
                </a:gridCol>
                <a:gridCol w="1865481">
                  <a:extLst>
                    <a:ext uri="{9D8B030D-6E8A-4147-A177-3AD203B41FA5}">
                      <a16:colId xmlns:a16="http://schemas.microsoft.com/office/drawing/2014/main" val="4193726404"/>
                    </a:ext>
                  </a:extLst>
                </a:gridCol>
              </a:tblGrid>
              <a:tr h="370840">
                <a:tc>
                  <a:txBody>
                    <a:bodyPr/>
                    <a:lstStyle/>
                    <a:p>
                      <a:pPr algn="ctr"/>
                      <a:r>
                        <a:rPr kumimoji="1" lang="ja-JP" altLang="en-US" sz="2400" b="0" dirty="0">
                          <a:solidFill>
                            <a:schemeClr val="bg1"/>
                          </a:solidFill>
                        </a:rPr>
                        <a:t>キャリブレーションファクター</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  5%</a:t>
                      </a:r>
                      <a:endParaRPr kumimoji="1" lang="ja-JP" altLang="en-US" sz="24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rowSpan="2">
                  <a:txBody>
                    <a:bodyPr/>
                    <a:lstStyle/>
                    <a:p>
                      <a:pPr algn="ctr"/>
                      <a:r>
                        <a:rPr kumimoji="1" lang="ja-JP" altLang="en-US" sz="2400" b="0" dirty="0">
                          <a:solidFill>
                            <a:schemeClr val="bg1"/>
                          </a:solidFill>
                        </a:rPr>
                        <a:t>なぜ？</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07128806"/>
                  </a:ext>
                </a:extLst>
              </a:tr>
              <a:tr h="370840">
                <a:tc>
                  <a:txBody>
                    <a:bodyPr/>
                    <a:lstStyle/>
                    <a:p>
                      <a:pPr algn="ctr"/>
                      <a:r>
                        <a:rPr kumimoji="1" lang="ja-JP" altLang="en-US" sz="2400" b="0" dirty="0">
                          <a:solidFill>
                            <a:schemeClr val="bg1"/>
                          </a:solidFill>
                        </a:rPr>
                        <a:t>線量測定</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main15%±sub15%</a:t>
                      </a:r>
                      <a:endParaRPr kumimoji="1" lang="ja-JP" altLang="en-US" sz="24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vMerge="1">
                  <a:txBody>
                    <a:bodyPr/>
                    <a:lstStyle/>
                    <a:p>
                      <a:pPr algn="ct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8290502"/>
                  </a:ext>
                </a:extLst>
              </a:tr>
            </a:tbl>
          </a:graphicData>
        </a:graphic>
      </p:graphicFrame>
      <p:pic>
        <p:nvPicPr>
          <p:cNvPr id="9" name="図 8" descr="グラフ&#10;&#10;自動的に生成された説明">
            <a:extLst>
              <a:ext uri="{FF2B5EF4-FFF2-40B4-BE49-F238E27FC236}">
                <a16:creationId xmlns:a16="http://schemas.microsoft.com/office/drawing/2014/main" id="{5595C155-58D9-2693-A643-1A04F0B3C75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82951" y="2627922"/>
            <a:ext cx="2103797" cy="2103797"/>
          </a:xfrm>
          <a:prstGeom prst="rect">
            <a:avLst/>
          </a:prstGeom>
        </p:spPr>
      </p:pic>
      <p:sp>
        <p:nvSpPr>
          <p:cNvPr id="15" name="テキスト ボックス 14">
            <a:extLst>
              <a:ext uri="{FF2B5EF4-FFF2-40B4-BE49-F238E27FC236}">
                <a16:creationId xmlns:a16="http://schemas.microsoft.com/office/drawing/2014/main" id="{A3E401BB-53DE-17CA-7F70-87D6D493B8AC}"/>
              </a:ext>
            </a:extLst>
          </p:cNvPr>
          <p:cNvSpPr txBox="1"/>
          <p:nvPr/>
        </p:nvSpPr>
        <p:spPr>
          <a:xfrm>
            <a:off x="535131" y="5379166"/>
            <a:ext cx="11402397" cy="1077218"/>
          </a:xfrm>
          <a:prstGeom prst="rect">
            <a:avLst/>
          </a:prstGeom>
          <a:noFill/>
        </p:spPr>
        <p:txBody>
          <a:bodyPr wrap="square" rtlCol="0">
            <a:spAutoFit/>
          </a:bodyPr>
          <a:lstStyle/>
          <a:p>
            <a:pPr algn="ctr"/>
            <a:r>
              <a:rPr kumimoji="1" lang="ja-JP" altLang="en-US" sz="3200" dirty="0">
                <a:solidFill>
                  <a:srgbClr val="FFC000"/>
                </a:solidFill>
              </a:rPr>
              <a:t>メインウィンドウを小さくする　→　貫通光子成分</a:t>
            </a:r>
            <a:r>
              <a:rPr lang="ja-JP" altLang="en-US" sz="3200" dirty="0">
                <a:solidFill>
                  <a:srgbClr val="FFC000"/>
                </a:solidFill>
              </a:rPr>
              <a:t>は減少</a:t>
            </a:r>
            <a:endParaRPr kumimoji="1" lang="en-US" altLang="ja-JP" sz="3200" dirty="0">
              <a:solidFill>
                <a:srgbClr val="FFC000"/>
              </a:solidFill>
            </a:endParaRPr>
          </a:p>
          <a:p>
            <a:pPr algn="ctr"/>
            <a:r>
              <a:rPr lang="ja-JP" altLang="en-US" sz="3200" dirty="0">
                <a:solidFill>
                  <a:srgbClr val="FFC000"/>
                </a:solidFill>
              </a:rPr>
              <a:t>サブウィンドウを小さくする　→　コンプトン散乱の過補正</a:t>
            </a:r>
            <a:endParaRPr kumimoji="1" lang="ja-JP" altLang="en-US" sz="3200" dirty="0">
              <a:solidFill>
                <a:srgbClr val="FFC000"/>
              </a:solidFill>
            </a:endParaRPr>
          </a:p>
        </p:txBody>
      </p:sp>
    </p:spTree>
    <p:extLst>
      <p:ext uri="{BB962C8B-B14F-4D97-AF65-F5344CB8AC3E}">
        <p14:creationId xmlns:p14="http://schemas.microsoft.com/office/powerpoint/2010/main" val="21803880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まとめ</a:t>
            </a:r>
          </a:p>
        </p:txBody>
      </p:sp>
      <p:sp>
        <p:nvSpPr>
          <p:cNvPr id="4" name="コンテンツ プレースホルダー 3">
            <a:extLst>
              <a:ext uri="{FF2B5EF4-FFF2-40B4-BE49-F238E27FC236}">
                <a16:creationId xmlns:a16="http://schemas.microsoft.com/office/drawing/2014/main" id="{1420FD83-D439-2012-059A-7D8359708B3E}"/>
              </a:ext>
            </a:extLst>
          </p:cNvPr>
          <p:cNvSpPr>
            <a:spLocks noGrp="1"/>
          </p:cNvSpPr>
          <p:nvPr>
            <p:ph idx="1"/>
          </p:nvPr>
        </p:nvSpPr>
        <p:spPr/>
        <p:txBody>
          <a:bodyPr/>
          <a:lstStyle/>
          <a:p>
            <a:r>
              <a:rPr lang="en-US" altLang="ja-JP" dirty="0"/>
              <a:t>15</a:t>
            </a:r>
            <a:r>
              <a:rPr lang="ja-JP" altLang="en-US" dirty="0"/>
              <a:t>％</a:t>
            </a:r>
            <a:r>
              <a:rPr lang="en-US" altLang="ja-JP" dirty="0"/>
              <a:t>±5</a:t>
            </a:r>
            <a:r>
              <a:rPr lang="ja-JP" altLang="en-US" dirty="0"/>
              <a:t>％でキャリブレーションファクターを求めた結果、最も誤差が少なかった　</a:t>
            </a:r>
            <a:endParaRPr lang="en-US" altLang="ja-JP" dirty="0"/>
          </a:p>
          <a:p>
            <a:pPr marL="0" indent="0">
              <a:buNone/>
            </a:pPr>
            <a:r>
              <a:rPr lang="ja-JP" altLang="en-US" dirty="0"/>
              <a:t>　→　散乱成分の過補正（貫通光子成分も補正）</a:t>
            </a:r>
            <a:endParaRPr lang="en-US" altLang="ja-JP" dirty="0"/>
          </a:p>
          <a:p>
            <a:pPr marL="0" indent="0">
              <a:buNone/>
            </a:pPr>
            <a:endParaRPr lang="en-US" altLang="ja-JP" dirty="0"/>
          </a:p>
          <a:p>
            <a:r>
              <a:rPr lang="en-US" altLang="ja-JP" dirty="0"/>
              <a:t>15%±15%</a:t>
            </a:r>
            <a:r>
              <a:rPr lang="ja-JP" altLang="en-US" dirty="0"/>
              <a:t>で線量測定を求めた結果、最も定量精度が高かった</a:t>
            </a:r>
            <a:endParaRPr lang="en-US" altLang="ja-JP" dirty="0"/>
          </a:p>
          <a:p>
            <a:pPr marL="0" indent="0">
              <a:buNone/>
            </a:pPr>
            <a:r>
              <a:rPr lang="ja-JP" altLang="en-US" dirty="0"/>
              <a:t>　→　貫通光子成分の影響を加味して測定</a:t>
            </a:r>
            <a:endParaRPr lang="en-US" altLang="ja-JP" dirty="0"/>
          </a:p>
          <a:p>
            <a:pPr marL="0" indent="0">
              <a:buNone/>
            </a:pPr>
            <a:endParaRPr lang="en-US" altLang="ja-JP" dirty="0"/>
          </a:p>
          <a:p>
            <a:r>
              <a:rPr lang="ja-JP" altLang="en-US" dirty="0"/>
              <a:t>より高精度な線量測定には貫通光子成分の補正が重要</a:t>
            </a:r>
          </a:p>
        </p:txBody>
      </p:sp>
    </p:spTree>
    <p:extLst>
      <p:ext uri="{BB962C8B-B14F-4D97-AF65-F5344CB8AC3E}">
        <p14:creationId xmlns:p14="http://schemas.microsoft.com/office/powerpoint/2010/main" val="320932347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14310</TotalTime>
  <Words>1835</Words>
  <Application>Microsoft Office PowerPoint</Application>
  <PresentationFormat>ワイド画面</PresentationFormat>
  <Paragraphs>169</Paragraphs>
  <Slides>10</Slides>
  <Notes>8</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10</vt:i4>
      </vt:variant>
    </vt:vector>
  </HeadingPairs>
  <TitlesOfParts>
    <vt:vector size="17" baseType="lpstr">
      <vt:lpstr>游ゴシック</vt:lpstr>
      <vt:lpstr>游ゴシック Light</vt:lpstr>
      <vt:lpstr>Aptos Narrow</vt:lpstr>
      <vt:lpstr>Arial</vt:lpstr>
      <vt:lpstr>Cambria Math</vt:lpstr>
      <vt:lpstr>Times New Roman</vt:lpstr>
      <vt:lpstr>Office テーマ</vt:lpstr>
      <vt:lpstr>123I線量測定における Triple-Energy-Window法の影響 　 モンテカルロシミュレーションによる評価</vt:lpstr>
      <vt:lpstr>PowerPoint プレゼンテーション</vt:lpstr>
      <vt:lpstr>背景</vt:lpstr>
      <vt:lpstr>目的</vt:lpstr>
      <vt:lpstr>使用機器及び収集条件</vt:lpstr>
      <vt:lpstr>評価方法</vt:lpstr>
      <vt:lpstr>評価方法</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ヒロシ ホンダ</dc:creator>
  <cp:lastModifiedBy>ヒロシ ホンダ</cp:lastModifiedBy>
  <cp:revision>43</cp:revision>
  <dcterms:created xsi:type="dcterms:W3CDTF">2024-10-02T12:05:53Z</dcterms:created>
  <dcterms:modified xsi:type="dcterms:W3CDTF">2024-10-29T11:35:11Z</dcterms:modified>
</cp:coreProperties>
</file>