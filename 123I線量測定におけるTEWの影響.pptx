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8.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2.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3.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4.xml" ContentType="application/vnd.openxmlformats-officedocument.presentationml.notesSlide+xml"/>
  <Override PartName="/ppt/charts/chart27.xml" ContentType="application/vnd.openxmlformats-officedocument.drawingml.chart+xml"/>
  <Override PartName="/ppt/drawings/drawing7.xml" ContentType="application/vnd.openxmlformats-officedocument.drawingml.chartshapes+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15.xml" ContentType="application/vnd.openxmlformats-officedocument.presentationml.notesSlide+xml"/>
  <Override PartName="/ppt/charts/chart32.xml" ContentType="application/vnd.openxmlformats-officedocument.drawingml.chart+xml"/>
  <Override PartName="/ppt/drawings/drawing8.xml" ContentType="application/vnd.openxmlformats-officedocument.drawingml.chartshapes+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notesSlides/notesSlide16.xml" ContentType="application/vnd.openxmlformats-officedocument.presentationml.notesSlide+xml"/>
  <Override PartName="/ppt/charts/chart37.xml" ContentType="application/vnd.openxmlformats-officedocument.drawingml.chart+xml"/>
  <Override PartName="/ppt/drawings/drawing9.xml" ContentType="application/vnd.openxmlformats-officedocument.drawingml.chartshapes+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notesSlides/notesSlide17.xml" ContentType="application/vnd.openxmlformats-officedocument.presentationml.notesSlide+xml"/>
  <Override PartName="/ppt/charts/chart42.xml" ContentType="application/vnd.openxmlformats-officedocument.drawingml.chart+xml"/>
  <Override PartName="/ppt/drawings/drawing10.xml" ContentType="application/vnd.openxmlformats-officedocument.drawingml.chartshapes+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notesSlides/notesSlide18.xml" ContentType="application/vnd.openxmlformats-officedocument.presentationml.notesSlide+xml"/>
  <Override PartName="/ppt/charts/chart47.xml" ContentType="application/vnd.openxmlformats-officedocument.drawingml.chart+xml"/>
  <Override PartName="/ppt/charts/style1.xml" ContentType="application/vnd.ms-office.chartstyle+xml"/>
  <Override PartName="/ppt/charts/colors1.xml" ContentType="application/vnd.ms-office.chartcolorstyle+xml"/>
  <Override PartName="/ppt/charts/chart48.xml" ContentType="application/vnd.openxmlformats-officedocument.drawingml.chart+xml"/>
  <Override PartName="/ppt/charts/style2.xml" ContentType="application/vnd.ms-office.chartstyle+xml"/>
  <Override PartName="/ppt/charts/colors2.xml" ContentType="application/vnd.ms-office.chartcolorstyle+xml"/>
  <Override PartName="/ppt/charts/chart49.xml" ContentType="application/vnd.openxmlformats-officedocument.drawingml.chart+xml"/>
  <Override PartName="/ppt/charts/style3.xml" ContentType="application/vnd.ms-office.chartstyle+xml"/>
  <Override PartName="/ppt/charts/colors3.xml" ContentType="application/vnd.ms-office.chartcolorstyle+xml"/>
  <Override PartName="/ppt/charts/chart50.xml" ContentType="application/vnd.openxmlformats-officedocument.drawingml.chart+xml"/>
  <Override PartName="/ppt/charts/style4.xml" ContentType="application/vnd.ms-office.chartstyle+xml"/>
  <Override PartName="/ppt/charts/colors4.xml" ContentType="application/vnd.ms-office.chartcolorstyle+xml"/>
  <Override PartName="/ppt/charts/chart51.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9.xml" ContentType="application/vnd.openxmlformats-officedocument.presentationml.notesSlide+xml"/>
  <Override PartName="/ppt/charts/chart52.xml" ContentType="application/vnd.openxmlformats-officedocument.drawingml.chart+xml"/>
  <Override PartName="/ppt/charts/style6.xml" ContentType="application/vnd.ms-office.chartstyle+xml"/>
  <Override PartName="/ppt/charts/colors6.xml" ContentType="application/vnd.ms-office.chartcolorstyle+xml"/>
  <Override PartName="/ppt/charts/chart53.xml" ContentType="application/vnd.openxmlformats-officedocument.drawingml.chart+xml"/>
  <Override PartName="/ppt/charts/style7.xml" ContentType="application/vnd.ms-office.chartstyle+xml"/>
  <Override PartName="/ppt/charts/colors7.xml" ContentType="application/vnd.ms-office.chartcolorstyle+xml"/>
  <Override PartName="/ppt/charts/chart54.xml" ContentType="application/vnd.openxmlformats-officedocument.drawingml.chart+xml"/>
  <Override PartName="/ppt/charts/style8.xml" ContentType="application/vnd.ms-office.chartstyle+xml"/>
  <Override PartName="/ppt/charts/colors8.xml" ContentType="application/vnd.ms-office.chartcolorstyle+xml"/>
  <Override PartName="/ppt/charts/chart55.xml" ContentType="application/vnd.openxmlformats-officedocument.drawingml.chart+xml"/>
  <Override PartName="/ppt/charts/style9.xml" ContentType="application/vnd.ms-office.chartstyle+xml"/>
  <Override PartName="/ppt/charts/colors9.xml" ContentType="application/vnd.ms-office.chartcolorstyle+xml"/>
  <Override PartName="/ppt/charts/chart56.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20.xml" ContentType="application/vnd.openxmlformats-officedocument.presentationml.notesSlide+xml"/>
  <Override PartName="/ppt/charts/chart5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5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5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60.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61.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21.xml" ContentType="application/vnd.openxmlformats-officedocument.presentationml.notesSlide+xml"/>
  <Override PartName="/ppt/charts/chart6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63.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64.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65.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66.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67.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68.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69.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70.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71.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72.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73.xml" ContentType="application/vnd.openxmlformats-officedocument.drawingml.chart+xml"/>
  <Override PartName="/ppt/drawings/drawing11.xml" ContentType="application/vnd.openxmlformats-officedocument.drawingml.chartshapes+xml"/>
  <Override PartName="/ppt/notesSlides/notesSlide25.xml" ContentType="application/vnd.openxmlformats-officedocument.presentationml.notesSlide+xml"/>
  <Override PartName="/ppt/charts/chart74.xml" ContentType="application/vnd.openxmlformats-officedocument.drawingml.chart+xml"/>
  <Override PartName="/ppt/notesSlides/notesSlide26.xml" ContentType="application/vnd.openxmlformats-officedocument.presentationml.notesSlide+xml"/>
  <Override PartName="/ppt/charts/chart75.xml" ContentType="application/vnd.openxmlformats-officedocument.drawingml.chart+xml"/>
  <Override PartName="/ppt/drawings/drawing12.xml" ContentType="application/vnd.openxmlformats-officedocument.drawingml.chartshape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285" r:id="rId3"/>
    <p:sldId id="275" r:id="rId4"/>
    <p:sldId id="258" r:id="rId5"/>
    <p:sldId id="294" r:id="rId6"/>
    <p:sldId id="295" r:id="rId7"/>
    <p:sldId id="293" r:id="rId8"/>
    <p:sldId id="276" r:id="rId9"/>
    <p:sldId id="296" r:id="rId10"/>
    <p:sldId id="299" r:id="rId11"/>
    <p:sldId id="286" r:id="rId12"/>
    <p:sldId id="265" r:id="rId13"/>
    <p:sldId id="290" r:id="rId14"/>
    <p:sldId id="291" r:id="rId15"/>
    <p:sldId id="281" r:id="rId16"/>
    <p:sldId id="289" r:id="rId17"/>
    <p:sldId id="261" r:id="rId18"/>
    <p:sldId id="287" r:id="rId19"/>
    <p:sldId id="283" r:id="rId20"/>
    <p:sldId id="282" r:id="rId21"/>
    <p:sldId id="279" r:id="rId22"/>
    <p:sldId id="278" r:id="rId23"/>
    <p:sldId id="277" r:id="rId24"/>
    <p:sldId id="266" r:id="rId25"/>
    <p:sldId id="273" r:id="rId26"/>
    <p:sldId id="268" r:id="rId27"/>
    <p:sldId id="267" r:id="rId28"/>
    <p:sldId id="260" r:id="rId29"/>
    <p:sldId id="264" r:id="rId30"/>
    <p:sldId id="271" r:id="rId31"/>
    <p:sldId id="259" r:id="rId32"/>
    <p:sldId id="274" r:id="rId33"/>
    <p:sldId id="257" r:id="rId34"/>
    <p:sldId id="269" r:id="rId35"/>
    <p:sldId id="288" r:id="rId36"/>
    <p:sldId id="270" r:id="rId37"/>
    <p:sldId id="292" r:id="rId38"/>
    <p:sldId id="298" r:id="rId39"/>
    <p:sldId id="272" r:id="rId4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2523" autoAdjust="0"/>
  </p:normalViewPr>
  <p:slideViewPr>
    <p:cSldViewPr snapToGrid="0">
      <p:cViewPr varScale="1">
        <p:scale>
          <a:sx n="50" d="100"/>
          <a:sy n="50" d="100"/>
        </p:scale>
        <p:origin x="36" y="252"/>
      </p:cViewPr>
      <p:guideLst/>
    </p:cSldViewPr>
  </p:slideViewPr>
  <p:outlineViewPr>
    <p:cViewPr>
      <p:scale>
        <a:sx n="33" d="100"/>
        <a:sy n="33" d="100"/>
      </p:scale>
      <p:origin x="0" y="0"/>
    </p:cViewPr>
  </p:outlin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xlsx"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xlsx"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2.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xlsx" TargetMode="External"/></Relationships>
</file>

<file path=ppt/charts/_rels/chart3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7.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oleObject" Target="file:///C:\Users\hhond\source\repos\simind_study\cps_per_mbq_to_bq_per_ml.ods" TargetMode="External"/></Relationships>
</file>

<file path=ppt/charts/_rels/chart3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2.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oleObject" Target="file:///C:\Users\hhond\source\repos\simind_study\cps_per_mbq_to_bq_per_ml.ods" TargetMode="External"/></Relationships>
</file>

<file path=ppt/charts/_rels/chart4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6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6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6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6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6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6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6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7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72.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73.xml.rels><?xml version="1.0" encoding="UTF-8" standalone="yes"?>
<Relationships xmlns="http://schemas.openxmlformats.org/package/2006/relationships"><Relationship Id="rId2" Type="http://schemas.openxmlformats.org/officeDocument/2006/relationships/chartUserShapes" Target="../drawings/drawing11.xml"/><Relationship Id="rId1" Type="http://schemas.openxmlformats.org/officeDocument/2006/relationships/oleObject" Target="file:///C:\Users\hhond\source\repos\simind_study\cps_per_mbq_to_bq_per_ml.ods" TargetMode="External"/></Relationships>
</file>

<file path=ppt/charts/_rels/chart7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75.xml.rels><?xml version="1.0" encoding="UTF-8" standalone="yes"?>
<Relationships xmlns="http://schemas.openxmlformats.org/package/2006/relationships"><Relationship Id="rId2" Type="http://schemas.openxmlformats.org/officeDocument/2006/relationships/chartUserShapes" Target="../drawings/drawing12.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64D-4DF2-85EC-A65524A1246D}"/>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364D-4DF2-85EC-A65524A1246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364D-4DF2-85EC-A65524A1246D}"/>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364D-4DF2-85EC-A65524A1246D}"/>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364D-4DF2-85EC-A65524A1246D}"/>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5755-4143-9D0A-287CF60489D7}"/>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5755-4143-9D0A-287CF60489D7}"/>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5755-4143-9D0A-287CF60489D7}"/>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5755-4143-9D0A-287CF60489D7}"/>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5755-4143-9D0A-287CF60489D7}"/>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5755-4143-9D0A-287CF60489D7}"/>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E58-456E-822C-8AD05EBAEECF}"/>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EE58-456E-822C-8AD05EBAEEC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EE58-456E-822C-8AD05EBAEECF}"/>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EE58-456E-822C-8AD05EBAEECF}"/>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EE58-456E-822C-8AD05EBAEECF}"/>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EE58-456E-822C-8AD05EBAEECF}"/>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28D-46EF-A76F-4B0F6F42E4F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28D-46EF-A76F-4B0F6F42E4F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28D-46EF-A76F-4B0F6F42E4F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28D-46EF-A76F-4B0F6F42E4FE}"/>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28D-46EF-A76F-4B0F6F42E4FE}"/>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B28D-46EF-A76F-4B0F6F42E4FE}"/>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DFC-4E56-B5AE-FF08ABA9E726}"/>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EDFC-4E56-B5AE-FF08ABA9E726}"/>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EDFC-4E56-B5AE-FF08ABA9E726}"/>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EDFC-4E56-B5AE-FF08ABA9E726}"/>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EDFC-4E56-B5AE-FF08ABA9E726}"/>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EDFC-4E56-B5AE-FF08ABA9E726}"/>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64D-4DF2-85EC-A65524A1246D}"/>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364D-4DF2-85EC-A65524A1246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364D-4DF2-85EC-A65524A1246D}"/>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364D-4DF2-85EC-A65524A1246D}"/>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364D-4DF2-85EC-A65524A1246D}"/>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5755-4143-9D0A-287CF60489D7}"/>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5755-4143-9D0A-287CF60489D7}"/>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5755-4143-9D0A-287CF60489D7}"/>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5755-4143-9D0A-287CF60489D7}"/>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5755-4143-9D0A-287CF60489D7}"/>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5755-4143-9D0A-287CF60489D7}"/>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E58-456E-822C-8AD05EBAEECF}"/>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EE58-456E-822C-8AD05EBAEEC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EE58-456E-822C-8AD05EBAEECF}"/>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EE58-456E-822C-8AD05EBAEECF}"/>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EE58-456E-822C-8AD05EBAEECF}"/>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EE58-456E-822C-8AD05EBAEECF}"/>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28D-46EF-A76F-4B0F6F42E4F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28D-46EF-A76F-4B0F6F42E4F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28D-46EF-A76F-4B0F6F42E4F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28D-46EF-A76F-4B0F6F42E4FE}"/>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28D-46EF-A76F-4B0F6F42E4FE}"/>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B28D-46EF-A76F-4B0F6F42E4FE}"/>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DFC-4E56-B5AE-FF08ABA9E726}"/>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EDFC-4E56-B5AE-FF08ABA9E726}"/>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EDFC-4E56-B5AE-FF08ABA9E726}"/>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EDFC-4E56-B5AE-FF08ABA9E726}"/>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EDFC-4E56-B5AE-FF08ABA9E726}"/>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EDFC-4E56-B5AE-FF08ABA9E726}"/>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6.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7.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8.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9.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10.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1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12.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2024/10/31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体内のターゲットに対しての線量測定を行う場合、高精度で関心領域内の放射能量を測定することが求められている。しかし、低エネルギー高分解能コリメータとヨウ素</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43F15-FB94-3A8A-43D2-2C559664A7E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8A7C613-B86B-0693-1651-CFA93B6F91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D1E36E3-2C10-7553-175B-8D234A585D31}"/>
              </a:ext>
            </a:extLst>
          </p:cNvPr>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a:extLst>
              <a:ext uri="{FF2B5EF4-FFF2-40B4-BE49-F238E27FC236}">
                <a16:creationId xmlns:a16="http://schemas.microsoft.com/office/drawing/2014/main" id="{63BA186C-AFBB-E2B4-A9C2-2469ED8D7B3B}"/>
              </a:ext>
            </a:extLst>
          </p:cNvPr>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16390969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3996-6921-3C6C-FA3F-345B2ACB51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C6E27A-88AE-A375-392A-790BDF53D9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DBEE3F-8285-F7A2-1CFF-0AAC6C7D3B70}"/>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4C797813-C620-E25F-C975-711005B0C50F}"/>
              </a:ext>
            </a:extLst>
          </p:cNvPr>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34553794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FF93A-F6CD-894B-1184-14C80EFD17E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5113E15-5FDF-D537-DB9D-9BDB22C64F6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BA7907-ADBF-CAA7-C375-5A6D4C015431}"/>
              </a:ext>
            </a:extLst>
          </p:cNvPr>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がキャリブレーションファクターに及ぼす影響を評価する方法は、１</a:t>
            </a:r>
            <a:r>
              <a:rPr kumimoji="1" lang="en-US" altLang="ja-JP" dirty="0"/>
              <a:t>MB</a:t>
            </a:r>
            <a:r>
              <a:rPr kumimoji="1" lang="ja-JP" altLang="en-US" dirty="0"/>
              <a:t>ｑの点線源をシミュレーションして得られた各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法で再構成し、点線源に対して半径</a:t>
            </a:r>
            <a:r>
              <a:rPr kumimoji="1" lang="en-US" altLang="ja-JP" dirty="0"/>
              <a:t>3㎝</a:t>
            </a:r>
            <a:r>
              <a:rPr kumimoji="1" lang="ja-JP" altLang="en-US" dirty="0"/>
              <a:t>の球体状の関心領域を設定しカウントを測定した。これらのデータと比較するために、全てのイベントを含んだ投影データから一次光子のみの投影データを抽出し、再構成画像からカウントを求めて、各ウィンドウ設定と比較し相対誤差を求めた。</a:t>
            </a:r>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3BBCA261-55C5-C198-5622-E68E99104FDE}"/>
              </a:ext>
            </a:extLst>
          </p:cNvPr>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1455009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が線量測定に及ぼす影響を評価する方法は、スライドに示すようなサイズの異なる球体を配置した円柱ファントムに全体で</a:t>
            </a:r>
            <a:r>
              <a:rPr kumimoji="1" lang="en-US" altLang="ja-JP" dirty="0"/>
              <a:t>50MB</a:t>
            </a:r>
            <a:r>
              <a:rPr kumimoji="1" lang="ja-JP" altLang="en-US" dirty="0"/>
              <a:t>ｑとなるようにアイソトープを入れた円柱ファントムに対する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window</a:t>
            </a:r>
            <a:r>
              <a:rPr kumimoji="1" lang="ja-JP" altLang="en-US" dirty="0"/>
              <a:t>設定の投影データを散乱、吸収、分解能補正を組み込んだ</a:t>
            </a:r>
            <a:r>
              <a:rPr kumimoji="1" lang="en-US" altLang="ja-JP" dirty="0"/>
              <a:t>OSEM</a:t>
            </a:r>
            <a:r>
              <a:rPr kumimoji="1" lang="ja-JP" altLang="en-US" dirty="0"/>
              <a:t>法で再構成し線量測定用の画像を作成した。今回の検討ではファントム内に配置した個々の球体の放射能量ではなく円柱ファントム全体の放射能量を測定することにしたため、円柱ファントムに対して関心領域を設定し線量を求め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F6146-416B-FF83-BA5B-15F5575A36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38DE66F-3031-04C3-245A-0E1BE081500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A0C33D-7C6D-74FB-9BB4-4E8880DB38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に及ぼす影響を見てみると、キャリブレーションファクタの場合と同様にメインウィンドウが小さいほど誤差が小さくなるが、サブウィンドウに関しては反対に大きいほうが誤差は小さく、</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FF5FECAE-C57C-8AB0-A09D-03203ADD6A3A}"/>
              </a:ext>
            </a:extLst>
          </p:cNvPr>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1620106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9D0A9-4D7C-1AD5-572E-75BDA4635E8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6F97E2-C723-EC31-A416-AC3FE8DF3D1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E8E03A-34BF-5075-3A32-9D13251A28C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に及ぼす影響を見てみると、キャリブレーションファクタの場合と同様にメインウィンドウが小さいほど誤差が小さくなるが、サブウィンドウに関しては反対に大きいほうが誤差は小さく、</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5CDBCB59-02DD-8951-8F97-1F0B536AE964}"/>
              </a:ext>
            </a:extLst>
          </p:cNvPr>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2875032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に及ぼす影響を見てみると、キャリブレーションファクタの場合と同様にメインウィンドウが小さいほど誤差が小さくなるが、サブウィンドウに関しては反対に大きいほうが誤差は小さく、</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endParaRPr kumimoji="1" lang="en-US" altLang="ja-JP" dirty="0"/>
          </a:p>
          <a:p>
            <a:r>
              <a:rPr kumimoji="1" lang="ja-JP" altLang="en-US" dirty="0"/>
              <a:t>まず、メインウィンドウが小さいほど誤差が小さくなった要因として、</a:t>
            </a:r>
            <a:endParaRPr kumimoji="1" lang="en-US" altLang="ja-JP" dirty="0"/>
          </a:p>
          <a:p>
            <a:r>
              <a:rPr kumimoji="1" lang="ja-JP" altLang="en-US" dirty="0"/>
              <a:t>一次光子と同じエネルギー帯域に存在するコリメータを貫通する光子の影響が考えれる。つまり、メインウィンドウの幅を大きくすれば、一次光子の量も増えるが、それと同時にコリメータを貫通する光子の量も増加し誤差の要因となる。結果、メインウィンドウが小さいほど誤差が小さくなったと考えられる。</a:t>
            </a:r>
            <a:endParaRPr kumimoji="1" lang="en-US" altLang="ja-JP" dirty="0"/>
          </a:p>
          <a:p>
            <a:r>
              <a:rPr kumimoji="1" lang="ja-JP" altLang="en-US" dirty="0"/>
              <a:t>では、キャリブレーションファクタにおいて、サブウィンドウが小さいほうが誤差が小さくなった要因は、</a:t>
            </a:r>
            <a:endParaRPr kumimoji="1" lang="en-US" altLang="ja-JP" dirty="0"/>
          </a:p>
          <a:p>
            <a:r>
              <a:rPr kumimoji="1" lang="ja-JP" altLang="en-US" dirty="0"/>
              <a:t>サブウィンドウの幅を小さくすると、</a:t>
            </a:r>
            <a:r>
              <a:rPr kumimoji="1" lang="en-US" altLang="ja-JP" dirty="0"/>
              <a:t>tew</a:t>
            </a:r>
            <a:r>
              <a:rPr kumimoji="1" lang="ja-JP" altLang="en-US" dirty="0"/>
              <a:t>の対象であるコンプトン散乱の量よりも大きさ量で補正していることがわかる。本来、過補正になれば誤差はマイナスとなるが、そうならなかったのは補正の対象とならないコリメータを貫通する光子の成分をあたかも補正したかのようになったためと考える。</a:t>
            </a:r>
            <a:endParaRPr kumimoji="1" lang="en-US" altLang="ja-JP" dirty="0"/>
          </a:p>
          <a:p>
            <a:r>
              <a:rPr kumimoji="1" lang="ja-JP" altLang="en-US" dirty="0"/>
              <a:t>以上の結果より、メインウィンドウとサブウィンドウのどちらも小さい</a:t>
            </a:r>
            <a:r>
              <a:rPr kumimoji="1" lang="en-US" altLang="ja-JP" dirty="0"/>
              <a:t>15%±5%</a:t>
            </a:r>
            <a:r>
              <a:rPr kumimoji="1" lang="ja-JP" altLang="en-US" dirty="0"/>
              <a:t>がキャリブレーションファクタを取得する際、最も誤差の少ない結果になったと考える。</a:t>
            </a:r>
            <a:endParaRPr kumimoji="1" lang="en-US" altLang="ja-JP" dirty="0"/>
          </a:p>
          <a:p>
            <a:endParaRPr kumimoji="1" lang="en-US" altLang="ja-JP" dirty="0"/>
          </a:p>
          <a:p>
            <a:r>
              <a:rPr kumimoji="1" lang="ja-JP" altLang="en-US" dirty="0"/>
              <a:t>しかし実際の線量測定で</a:t>
            </a:r>
            <a:r>
              <a:rPr kumimoji="1" lang="en-US" altLang="ja-JP" dirty="0"/>
              <a:t>15%±15%</a:t>
            </a:r>
            <a:r>
              <a:rPr kumimoji="1" lang="ja-JP" altLang="en-US" dirty="0"/>
              <a:t>が最も誤差が少なくなった要因として</a:t>
            </a:r>
            <a:endParaRPr kumimoji="1" lang="en-US" altLang="ja-JP" dirty="0"/>
          </a:p>
          <a:p>
            <a:r>
              <a:rPr kumimoji="1" lang="ja-JP" altLang="en-US" dirty="0"/>
              <a:t>スライド右側に、コリメータを貫通した光子のみで作成した画像を提示するが、コリメータを貫通した光子はスター状に画像全体に分布しているが、キャリブレーションファクタを取得するために我々は点線源に対して</a:t>
            </a:r>
            <a:r>
              <a:rPr kumimoji="1" lang="en-US" altLang="ja-JP" dirty="0"/>
              <a:t>3㎝</a:t>
            </a:r>
            <a:r>
              <a:rPr kumimoji="1" lang="ja-JP" altLang="en-US" dirty="0"/>
              <a:t>の球状の関心領域を設定し、カウントを測定した。そのため、全てのコリメータを貫通する光子を考慮していないのに対して、円柱ファントムではあらゆる点において複雑に貫通光子の影響が出てくる。</a:t>
            </a:r>
            <a:endParaRPr kumimoji="1" lang="en-US" altLang="ja-JP" dirty="0"/>
          </a:p>
          <a:p>
            <a:r>
              <a:rPr kumimoji="1" lang="ja-JP" altLang="en-US" dirty="0"/>
              <a:t>設定ウィンドウ</a:t>
            </a:r>
            <a:r>
              <a:rPr kumimoji="1" lang="en-US" altLang="ja-JP" dirty="0"/>
              <a:t>15%±5%</a:t>
            </a:r>
            <a:r>
              <a:rPr kumimoji="1" lang="ja-JP" altLang="en-US" dirty="0"/>
              <a:t>では貫通光子の影響のないキャリブレーションファクターで貫通光子の影響のある円柱ファントムの線量を測定しているのに対して、</a:t>
            </a:r>
            <a:r>
              <a:rPr kumimoji="1" lang="en-US" altLang="ja-JP" dirty="0"/>
              <a:t>15</a:t>
            </a:r>
            <a:r>
              <a:rPr kumimoji="1" lang="ja-JP" altLang="en-US" dirty="0"/>
              <a:t>％</a:t>
            </a:r>
            <a:r>
              <a:rPr kumimoji="1" lang="en-US" altLang="ja-JP" dirty="0"/>
              <a:t>±15</a:t>
            </a:r>
            <a:r>
              <a:rPr kumimoji="1" lang="ja-JP" altLang="en-US" dirty="0"/>
              <a:t>％では貫通光子をある程度加味したキャリブレーションファクターで円柱ファントムの線量を測定しているため、より精度を高く測定できたと考える。</a:t>
            </a:r>
            <a:endParaRPr kumimoji="1" lang="en-US" altLang="ja-JP" dirty="0"/>
          </a:p>
          <a:p>
            <a:endParaRPr kumimoji="1" lang="en-US" altLang="ja-JP" dirty="0"/>
          </a:p>
          <a:p>
            <a:endParaRPr kumimoji="1" lang="en-US" altLang="ja-JP" dirty="0"/>
          </a:p>
          <a:p>
            <a:r>
              <a:rPr kumimoji="1" lang="ja-JP" altLang="en-US" dirty="0"/>
              <a:t>今回、キャリブレーションファクターを</a:t>
            </a:r>
            <a:r>
              <a:rPr kumimoji="1" lang="en-US" altLang="ja-JP" dirty="0"/>
              <a:t>1MBq</a:t>
            </a:r>
            <a:r>
              <a:rPr kumimoji="1" lang="ja-JP" altLang="en-US" dirty="0"/>
              <a:t>あたりのカウントの逆数であり、補正量の大きい</a:t>
            </a:r>
            <a:r>
              <a:rPr kumimoji="1" lang="en-US" altLang="ja-JP" dirty="0"/>
              <a:t>15%±5%</a:t>
            </a:r>
            <a:r>
              <a:rPr kumimoji="1" lang="ja-JP" altLang="en-US" dirty="0"/>
              <a:t>は</a:t>
            </a:r>
            <a:r>
              <a:rPr kumimoji="1" lang="en-US" altLang="ja-JP" dirty="0"/>
              <a:t>1MBq</a:t>
            </a:r>
            <a:r>
              <a:rPr kumimoji="1" lang="ja-JP" altLang="en-US" dirty="0"/>
              <a:t>あたりのカウントは他のウィンドウ設定より小さくなる。そのためキャリブレーションファクターは大きくなる。</a:t>
            </a:r>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13</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E729E-A5B3-3D47-ECAE-0E07425222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3D389C-B882-5E50-7C7F-A1617E6FFC9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1F55BA-F401-D68C-A739-8CDE3E5ADE99}"/>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r>
              <a:rPr kumimoji="1" lang="ja-JP" altLang="en-US" dirty="0"/>
              <a:t>まず、メインウインドの幅は一次光子成分をどのくらい含めるかを調整することになるが、光子のエネルギー帯域が同じコリメータを貫通する光子成分も同じであるため、メインウィンドウの幅が大きくなるほど貫通光子成分の量も増加してしまい、その結果、メインウィンドウの幅が大きいほど</a:t>
            </a:r>
            <a:r>
              <a:rPr kumimoji="1" lang="en-US" altLang="ja-JP" dirty="0"/>
              <a:t>2</a:t>
            </a:r>
            <a:r>
              <a:rPr kumimoji="1" lang="ja-JP" altLang="en-US" dirty="0"/>
              <a:t>次光子成分である貫通光子成分が増加し、誤差が大きくなったと考えれる。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この結果、サブウィンドウが狭い</a:t>
            </a:r>
            <a:r>
              <a:rPr kumimoji="1" lang="en-US" altLang="ja-JP" dirty="0"/>
              <a:t>15%±5%</a:t>
            </a:r>
            <a:r>
              <a:rPr kumimoji="1" lang="ja-JP" altLang="en-US" dirty="0"/>
              <a:t>や</a:t>
            </a:r>
            <a:r>
              <a:rPr kumimoji="1" lang="en-US" altLang="ja-JP" dirty="0"/>
              <a:t>20</a:t>
            </a:r>
            <a:r>
              <a:rPr kumimoji="1" lang="ja-JP" altLang="en-US" dirty="0"/>
              <a:t>％</a:t>
            </a:r>
            <a:r>
              <a:rPr kumimoji="1" lang="en-US" altLang="ja-JP" dirty="0"/>
              <a:t>±3%</a:t>
            </a:r>
            <a:r>
              <a:rPr kumimoji="1" lang="ja-JP" altLang="en-US" dirty="0"/>
              <a:t>では</a:t>
            </a:r>
            <a:r>
              <a:rPr kumimoji="1" lang="en-US" altLang="ja-JP" dirty="0"/>
              <a:t>TEW</a:t>
            </a:r>
            <a:r>
              <a:rPr kumimoji="1" lang="ja-JP" altLang="en-US" dirty="0"/>
              <a:t>補正の対象外である貫通光子成分もあたかも補正したようになり、誤差が小さくなったと考える。</a:t>
            </a:r>
            <a:endParaRPr kumimoji="1" lang="en-US" altLang="ja-JP" dirty="0"/>
          </a:p>
          <a:p>
            <a:r>
              <a:rPr kumimoji="1" lang="ja-JP" altLang="en-US" dirty="0"/>
              <a:t>そして、この</a:t>
            </a:r>
            <a:r>
              <a:rPr kumimoji="1" lang="en-US" altLang="ja-JP" dirty="0"/>
              <a:t>2</a:t>
            </a:r>
            <a:r>
              <a:rPr kumimoji="1" lang="ja-JP" altLang="en-US" dirty="0"/>
              <a:t>つの結果より、キャリブレーションファクターの精度はメインウィンドウ</a:t>
            </a:r>
            <a:r>
              <a:rPr kumimoji="1" lang="en-US" altLang="ja-JP" dirty="0"/>
              <a:t>15%</a:t>
            </a:r>
            <a:r>
              <a:rPr kumimoji="1" lang="ja-JP" altLang="en-US" dirty="0"/>
              <a:t>サブウィンドウ</a:t>
            </a:r>
            <a:r>
              <a:rPr kumimoji="1" lang="en-US" altLang="ja-JP" dirty="0"/>
              <a:t>±5%</a:t>
            </a:r>
            <a:r>
              <a:rPr kumimoji="1" lang="ja-JP" altLang="en-US" dirty="0"/>
              <a:t>の設定が最も誤差が小さくなったと考えらえる。</a:t>
            </a:r>
            <a:endParaRPr kumimoji="1" lang="en-US" altLang="ja-JP" dirty="0"/>
          </a:p>
          <a:p>
            <a:endParaRPr kumimoji="1" lang="en-US" altLang="ja-JP" dirty="0"/>
          </a:p>
          <a:p>
            <a:r>
              <a:rPr kumimoji="1" lang="ja-JP" altLang="en-US" dirty="0"/>
              <a:t>しかし、実際の線量測定ではサブウィンドウが広いほうが精度が高くなった。その原因として、</a:t>
            </a:r>
            <a:endParaRPr kumimoji="1" lang="en-US" altLang="ja-JP" dirty="0"/>
          </a:p>
          <a:p>
            <a:r>
              <a:rPr kumimoji="1" lang="ja-JP" altLang="en-US" dirty="0"/>
              <a:t>コリメータを貫通する光子の影響が考えられる。</a:t>
            </a:r>
            <a:endParaRPr kumimoji="1" lang="en-US" altLang="ja-JP" dirty="0"/>
          </a:p>
          <a:p>
            <a:r>
              <a:rPr kumimoji="1" lang="ja-JP" altLang="en-US" dirty="0"/>
              <a:t>スライドにはキャリブレーション時の貫通光子成分のみを取り出した再構成画像を表示しているが、この画像は点線源であっても、コリメータを貫通する光子はスター状に現れ、広範囲に影響を及ぼすことを意味しており、キャリブレーションファクタを取得する際は点線源を中心に半径</a:t>
            </a:r>
            <a:r>
              <a:rPr kumimoji="1" lang="en-US" altLang="ja-JP" dirty="0"/>
              <a:t>3㎝</a:t>
            </a:r>
            <a:r>
              <a:rPr kumimoji="1" lang="ja-JP" altLang="en-US" dirty="0"/>
              <a:t>の</a:t>
            </a:r>
            <a:r>
              <a:rPr kumimoji="1" lang="en-US" altLang="ja-JP" dirty="0"/>
              <a:t>VOI</a:t>
            </a:r>
            <a:r>
              <a:rPr kumimoji="1" lang="ja-JP" altLang="en-US" dirty="0"/>
              <a:t>で測定しているため、点線源から遠ざかった貫通光子成分を無視して測定できたが、円柱状のファントムでは、このスター状に広がった貫通光子成分の影響を各ボクセルが様々な形で受けることになってしまっている。そのため、コリメータを貫通する成分をあたかも補正してしまった狭いサブウィンドウ設定のキャリブレーションファクタを貫通光子成分が多く残存する円柱ファントムの線量測定に用いても、反対に誤差が大きくなり、貫通光子成分を補正できていない広いサブウィンドウ設定のキャリブレーションファクタを用いたい場合、誤差が小さくなったと考えられた。</a:t>
            </a:r>
            <a:endParaRPr kumimoji="1" lang="en-US" altLang="ja-JP" dirty="0"/>
          </a:p>
          <a:p>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2CE9CC82-6E29-3AEF-1BC6-4D36DDC785E7}"/>
              </a:ext>
            </a:extLst>
          </p:cNvPr>
          <p:cNvSpPr>
            <a:spLocks noGrp="1"/>
          </p:cNvSpPr>
          <p:nvPr>
            <p:ph type="sldNum" sz="quarter" idx="5"/>
          </p:nvPr>
        </p:nvSpPr>
        <p:spPr/>
        <p:txBody>
          <a:bodyPr/>
          <a:lstStyle/>
          <a:p>
            <a:fld id="{CB4F2A14-61EB-415A-BAFD-914A8086F740}" type="slidenum">
              <a:rPr kumimoji="1" lang="ja-JP" altLang="en-US" smtClean="0"/>
              <a:t>14</a:t>
            </a:fld>
            <a:endParaRPr kumimoji="1" lang="ja-JP" altLang="en-US"/>
          </a:p>
        </p:txBody>
      </p:sp>
    </p:spTree>
    <p:extLst>
      <p:ext uri="{BB962C8B-B14F-4D97-AF65-F5344CB8AC3E}">
        <p14:creationId xmlns:p14="http://schemas.microsoft.com/office/powerpoint/2010/main" val="39579627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15</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16</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21</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22</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23</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24</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28</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29</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33</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34</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35</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36</a:t>
            </a:fld>
            <a:endParaRPr kumimoji="1" lang="ja-JP" altLang="en-US"/>
          </a:p>
        </p:txBody>
      </p:sp>
    </p:spTree>
    <p:extLst>
      <p:ext uri="{BB962C8B-B14F-4D97-AF65-F5344CB8AC3E}">
        <p14:creationId xmlns:p14="http://schemas.microsoft.com/office/powerpoint/2010/main" val="3670617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C0448-C1F5-7C39-6E64-5E802B6243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3260C0-22BE-9B48-C0AD-118547652E0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C25C72-E01E-B20E-10C6-9355C2551744}"/>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E26A2EEC-D245-B225-1076-3A934BAA71A9}"/>
              </a:ext>
            </a:extLst>
          </p:cNvPr>
          <p:cNvSpPr>
            <a:spLocks noGrp="1"/>
          </p:cNvSpPr>
          <p:nvPr>
            <p:ph type="sldNum" sz="quarter" idx="5"/>
          </p:nvPr>
        </p:nvSpPr>
        <p:spPr/>
        <p:txBody>
          <a:bodyPr/>
          <a:lstStyle/>
          <a:p>
            <a:fld id="{CB4F2A14-61EB-415A-BAFD-914A8086F740}" type="slidenum">
              <a:rPr kumimoji="1" lang="ja-JP" altLang="en-US" smtClean="0"/>
              <a:t>37</a:t>
            </a:fld>
            <a:endParaRPr kumimoji="1" lang="ja-JP" altLang="en-US"/>
          </a:p>
        </p:txBody>
      </p:sp>
    </p:spTree>
    <p:extLst>
      <p:ext uri="{BB962C8B-B14F-4D97-AF65-F5344CB8AC3E}">
        <p14:creationId xmlns:p14="http://schemas.microsoft.com/office/powerpoint/2010/main" val="28890391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A0064-57E4-27C8-D262-698AA6ECF8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7503C5E-26A2-2E92-509C-12E42A90050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9B474FF-1314-7646-5A38-0BB5278955C6}"/>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FD4552E6-8265-8E8C-6B28-16BF210436C8}"/>
              </a:ext>
            </a:extLst>
          </p:cNvPr>
          <p:cNvSpPr>
            <a:spLocks noGrp="1"/>
          </p:cNvSpPr>
          <p:nvPr>
            <p:ph type="sldNum" sz="quarter" idx="5"/>
          </p:nvPr>
        </p:nvSpPr>
        <p:spPr/>
        <p:txBody>
          <a:bodyPr/>
          <a:lstStyle/>
          <a:p>
            <a:fld id="{CB4F2A14-61EB-415A-BAFD-914A8086F740}" type="slidenum">
              <a:rPr kumimoji="1" lang="ja-JP" altLang="en-US" smtClean="0"/>
              <a:t>38</a:t>
            </a:fld>
            <a:endParaRPr kumimoji="1" lang="ja-JP" altLang="en-US"/>
          </a:p>
        </p:txBody>
      </p:sp>
    </p:spTree>
    <p:extLst>
      <p:ext uri="{BB962C8B-B14F-4D97-AF65-F5344CB8AC3E}">
        <p14:creationId xmlns:p14="http://schemas.microsoft.com/office/powerpoint/2010/main" val="17246684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使用機器は、</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モンテカルロシミュレーションコードには</a:t>
            </a:r>
            <a:r>
              <a:rPr kumimoji="1" lang="en-US" altLang="ja-JP" dirty="0"/>
              <a:t>SIMIND</a:t>
            </a:r>
            <a:r>
              <a:rPr kumimoji="1" lang="ja-JP" altLang="en-US" dirty="0"/>
              <a:t>コードを使用して、シーメンス社製</a:t>
            </a:r>
            <a:r>
              <a:rPr kumimoji="1" lang="en-US" altLang="ja-JP" dirty="0"/>
              <a:t>SymbiaT16</a:t>
            </a:r>
            <a:r>
              <a:rPr kumimoji="1" lang="ja-JP" altLang="en-US" dirty="0"/>
              <a:t>と低エネルギー高分解能コリメータを構築した。核種はヨウ素</a:t>
            </a:r>
            <a:r>
              <a:rPr kumimoji="1" lang="en-US" altLang="ja-JP" dirty="0"/>
              <a:t>123</a:t>
            </a:r>
            <a:r>
              <a:rPr kumimoji="1" lang="ja-JP" altLang="en-US" dirty="0"/>
              <a:t>とした。</a:t>
            </a:r>
            <a:endParaRPr kumimoji="1" lang="en-US" altLang="ja-JP" dirty="0"/>
          </a:p>
          <a:p>
            <a:endParaRPr kumimoji="1" lang="en-US" altLang="ja-JP" dirty="0"/>
          </a:p>
          <a:p>
            <a:r>
              <a:rPr kumimoji="1" lang="ja-JP" altLang="en-US" dirty="0"/>
              <a:t>収集条件について、</a:t>
            </a:r>
            <a:endParaRPr kumimoji="1" lang="en-US" altLang="ja-JP" dirty="0"/>
          </a:p>
          <a:p>
            <a:r>
              <a:rPr kumimoji="1" lang="ja-JP" altLang="en-US" dirty="0"/>
              <a:t>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種類とし、サブウィンドウの設定を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39</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2024/10/31</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2024/10/31</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gif"/><Relationship Id="rId4" Type="http://schemas.openxmlformats.org/officeDocument/2006/relationships/image" Target="../media/image6.gif"/></Relationships>
</file>

<file path=ppt/slides/_rels/slide8.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17.xml"/><Relationship Id="rId7" Type="http://schemas.openxmlformats.org/officeDocument/2006/relationships/chart" Target="../charts/chart2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hart" Target="../charts/chart22.xml"/><Relationship Id="rId7" Type="http://schemas.openxmlformats.org/officeDocument/2006/relationships/chart" Target="../charts/chart26.xml"/><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hart" Target="../charts/chart27.xml"/><Relationship Id="rId7" Type="http://schemas.openxmlformats.org/officeDocument/2006/relationships/chart" Target="../charts/chart3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chart" Target="../charts/chart32.xml"/><Relationship Id="rId7" Type="http://schemas.openxmlformats.org/officeDocument/2006/relationships/chart" Target="../charts/chart36.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19.xml.rels><?xml version="1.0" encoding="UTF-8" standalone="yes"?>
<Relationships xmlns="http://schemas.openxmlformats.org/package/2006/relationships"><Relationship Id="rId8" Type="http://schemas.openxmlformats.org/officeDocument/2006/relationships/chart" Target="../charts/chart41.xml"/><Relationship Id="rId3" Type="http://schemas.openxmlformats.org/officeDocument/2006/relationships/chart" Target="../charts/chart37.xml"/><Relationship Id="rId7"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20.xml.rels><?xml version="1.0" encoding="UTF-8" standalone="yes"?>
<Relationships xmlns="http://schemas.openxmlformats.org/package/2006/relationships"><Relationship Id="rId8" Type="http://schemas.openxmlformats.org/officeDocument/2006/relationships/chart" Target="../charts/chart46.xml"/><Relationship Id="rId3" Type="http://schemas.openxmlformats.org/officeDocument/2006/relationships/chart" Target="../charts/chart42.xml"/><Relationship Id="rId7"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45.xml"/><Relationship Id="rId5" Type="http://schemas.openxmlformats.org/officeDocument/2006/relationships/chart" Target="../charts/chart44.xml"/><Relationship Id="rId4" Type="http://schemas.openxmlformats.org/officeDocument/2006/relationships/chart" Target="../charts/chart43.xml"/></Relationships>
</file>

<file path=ppt/slides/_rels/slide21.xml.rels><?xml version="1.0" encoding="UTF-8" standalone="yes"?>
<Relationships xmlns="http://schemas.openxmlformats.org/package/2006/relationships"><Relationship Id="rId3" Type="http://schemas.openxmlformats.org/officeDocument/2006/relationships/chart" Target="../charts/chart47.xml"/><Relationship Id="rId7" Type="http://schemas.openxmlformats.org/officeDocument/2006/relationships/chart" Target="../charts/chart51.xm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chart" Target="../charts/chart50.xml"/><Relationship Id="rId5" Type="http://schemas.openxmlformats.org/officeDocument/2006/relationships/chart" Target="../charts/chart49.xml"/><Relationship Id="rId4" Type="http://schemas.openxmlformats.org/officeDocument/2006/relationships/chart" Target="../charts/chart48.xml"/></Relationships>
</file>

<file path=ppt/slides/_rels/slide22.xml.rels><?xml version="1.0" encoding="UTF-8" standalone="yes"?>
<Relationships xmlns="http://schemas.openxmlformats.org/package/2006/relationships"><Relationship Id="rId3" Type="http://schemas.openxmlformats.org/officeDocument/2006/relationships/chart" Target="../charts/chart52.xml"/><Relationship Id="rId7" Type="http://schemas.openxmlformats.org/officeDocument/2006/relationships/chart" Target="../charts/chart56.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chart" Target="../charts/chart55.xml"/><Relationship Id="rId5" Type="http://schemas.openxmlformats.org/officeDocument/2006/relationships/chart" Target="../charts/chart54.xml"/><Relationship Id="rId4" Type="http://schemas.openxmlformats.org/officeDocument/2006/relationships/chart" Target="../charts/chart53.xml"/></Relationships>
</file>

<file path=ppt/slides/_rels/slide23.xml.rels><?xml version="1.0" encoding="UTF-8" standalone="yes"?>
<Relationships xmlns="http://schemas.openxmlformats.org/package/2006/relationships"><Relationship Id="rId3" Type="http://schemas.openxmlformats.org/officeDocument/2006/relationships/chart" Target="../charts/chart57.xml"/><Relationship Id="rId7" Type="http://schemas.openxmlformats.org/officeDocument/2006/relationships/chart" Target="../charts/chart61.xml"/><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chart" Target="../charts/chart60.xml"/><Relationship Id="rId5" Type="http://schemas.openxmlformats.org/officeDocument/2006/relationships/chart" Target="../charts/chart59.xml"/><Relationship Id="rId4" Type="http://schemas.openxmlformats.org/officeDocument/2006/relationships/chart" Target="../charts/chart58.xml"/></Relationships>
</file>

<file path=ppt/slides/_rels/slide24.xml.rels><?xml version="1.0" encoding="UTF-8" standalone="yes"?>
<Relationships xmlns="http://schemas.openxmlformats.org/package/2006/relationships"><Relationship Id="rId8" Type="http://schemas.openxmlformats.org/officeDocument/2006/relationships/chart" Target="../charts/chart67.xml"/><Relationship Id="rId3" Type="http://schemas.openxmlformats.org/officeDocument/2006/relationships/chart" Target="../charts/chart62.xml"/><Relationship Id="rId7" Type="http://schemas.openxmlformats.org/officeDocument/2006/relationships/chart" Target="../charts/chart66.xml"/><Relationship Id="rId12" Type="http://schemas.openxmlformats.org/officeDocument/2006/relationships/chart" Target="../charts/chart71.xml"/><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chart" Target="../charts/chart65.xml"/><Relationship Id="rId11" Type="http://schemas.openxmlformats.org/officeDocument/2006/relationships/chart" Target="../charts/chart70.xml"/><Relationship Id="rId5" Type="http://schemas.openxmlformats.org/officeDocument/2006/relationships/chart" Target="../charts/chart64.xml"/><Relationship Id="rId10" Type="http://schemas.openxmlformats.org/officeDocument/2006/relationships/chart" Target="../charts/chart69.xml"/><Relationship Id="rId4" Type="http://schemas.openxmlformats.org/officeDocument/2006/relationships/chart" Target="../charts/chart63.xml"/><Relationship Id="rId9" Type="http://schemas.openxmlformats.org/officeDocument/2006/relationships/chart" Target="../charts/chart68.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hart" Target="../charts/chart72.xml"/><Relationship Id="rId7" Type="http://schemas.openxmlformats.org/officeDocument/2006/relationships/image" Target="../media/image17.gif"/><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chart" Target="../charts/chart73.xml"/></Relationships>
</file>

<file path=ppt/slides/_rels/slide34.xml.rels><?xml version="1.0" encoding="UTF-8" standalone="yes"?>
<Relationships xmlns="http://schemas.openxmlformats.org/package/2006/relationships"><Relationship Id="rId3" Type="http://schemas.openxmlformats.org/officeDocument/2006/relationships/image" Target="../media/image10.gif"/><Relationship Id="rId7" Type="http://schemas.openxmlformats.org/officeDocument/2006/relationships/chart" Target="../charts/chart74.xml"/><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0.gif"/><Relationship Id="rId5" Type="http://schemas.openxmlformats.org/officeDocument/2006/relationships/image" Target="../media/image19.gif"/><Relationship Id="rId4" Type="http://schemas.openxmlformats.org/officeDocument/2006/relationships/image" Target="../media/image18.gif"/></Relationships>
</file>

<file path=ppt/slides/_rels/slide35.xml.rels><?xml version="1.0" encoding="UTF-8" standalone="yes"?>
<Relationships xmlns="http://schemas.openxmlformats.org/package/2006/relationships"><Relationship Id="rId3" Type="http://schemas.openxmlformats.org/officeDocument/2006/relationships/chart" Target="../charts/chart75.xml"/><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17.gif"/><Relationship Id="rId5" Type="http://schemas.openxmlformats.org/officeDocument/2006/relationships/image" Target="../media/image16.png"/><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kumimoji="1" lang="en-US" altLang="ja-JP" b="1" dirty="0"/>
              <a:t>T</a:t>
            </a:r>
            <a:r>
              <a:rPr lang="en-US" altLang="ja-JP" b="1" dirty="0"/>
              <a: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normAutofit/>
          </a:bodyPr>
          <a:lstStyle/>
          <a:p>
            <a:r>
              <a:rPr kumimoji="1" lang="ja-JP" altLang="en-US" sz="2800" dirty="0"/>
              <a:t>東海大学医学部付属病院</a:t>
            </a:r>
            <a:endParaRPr kumimoji="1" lang="en-US" altLang="ja-JP" sz="2800" dirty="0"/>
          </a:p>
          <a:p>
            <a:r>
              <a:rPr lang="ja-JP" altLang="en-US" sz="2800" dirty="0"/>
              <a:t>本田裕司　山下高史　小林凛也</a:t>
            </a:r>
            <a:endParaRPr kumimoji="1" lang="ja-JP" altLang="en-US" sz="2800"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B45E5-87F1-02FE-049C-AE783AA8412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F4C22A8-A60F-C8CF-77A7-32B57D8A8EC1}"/>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1673C5BB-6BC1-D962-ECD4-880B4610DADF}"/>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3125898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127D9-F179-8C8A-BA4E-493D6E5967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2562671-B461-BB19-1567-6F727F236A8E}"/>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D6DCA5CA-511D-1FFF-BF44-6125A19FAF6D}"/>
              </a:ext>
            </a:extLst>
          </p:cNvPr>
          <p:cNvGraphicFramePr>
            <a:graphicFrameLocks noGrp="1"/>
          </p:cNvGraphicFramePr>
          <p:nvPr>
            <p:ph idx="1"/>
            <p:extLst>
              <p:ext uri="{D42A27DB-BD31-4B8C-83A1-F6EECF244321}">
                <p14:modId xmlns:p14="http://schemas.microsoft.com/office/powerpoint/2010/main" val="1448708003"/>
              </p:ext>
            </p:extLst>
          </p:nvPr>
        </p:nvGraphicFramePr>
        <p:xfrm>
          <a:off x="425450" y="1241425"/>
          <a:ext cx="11425687" cy="5511437"/>
        </p:xfrm>
        <a:graphic>
          <a:graphicData uri="http://schemas.openxmlformats.org/drawingml/2006/table">
            <a:tbl>
              <a:tblPr firstRow="1" bandRow="1">
                <a:tableStyleId>{5C22544A-7EE6-4342-B048-85BDC9FD1C3A}</a:tableStyleId>
              </a:tblPr>
              <a:tblGrid>
                <a:gridCol w="2289615">
                  <a:extLst>
                    <a:ext uri="{9D8B030D-6E8A-4147-A177-3AD203B41FA5}">
                      <a16:colId xmlns:a16="http://schemas.microsoft.com/office/drawing/2014/main" val="1942362006"/>
                    </a:ext>
                  </a:extLst>
                </a:gridCol>
                <a:gridCol w="2262872">
                  <a:extLst>
                    <a:ext uri="{9D8B030D-6E8A-4147-A177-3AD203B41FA5}">
                      <a16:colId xmlns:a16="http://schemas.microsoft.com/office/drawing/2014/main" val="3820735196"/>
                    </a:ext>
                  </a:extLst>
                </a:gridCol>
                <a:gridCol w="2471152">
                  <a:extLst>
                    <a:ext uri="{9D8B030D-6E8A-4147-A177-3AD203B41FA5}">
                      <a16:colId xmlns:a16="http://schemas.microsoft.com/office/drawing/2014/main" val="404953945"/>
                    </a:ext>
                  </a:extLst>
                </a:gridCol>
                <a:gridCol w="2139176">
                  <a:extLst>
                    <a:ext uri="{9D8B030D-6E8A-4147-A177-3AD203B41FA5}">
                      <a16:colId xmlns:a16="http://schemas.microsoft.com/office/drawing/2014/main" val="2244385460"/>
                    </a:ext>
                  </a:extLst>
                </a:gridCol>
                <a:gridCol w="2262872">
                  <a:extLst>
                    <a:ext uri="{9D8B030D-6E8A-4147-A177-3AD203B41FA5}">
                      <a16:colId xmlns:a16="http://schemas.microsoft.com/office/drawing/2014/main" val="2187376125"/>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75685848"/>
                  </a:ext>
                </a:extLst>
              </a:tr>
              <a:tr h="370840">
                <a:tc rowSpan="4" gridSpan="2">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400" dirty="0">
                          <a:solidFill>
                            <a:srgbClr val="FFC000"/>
                          </a:solidFill>
                        </a:rPr>
                        <a:t>TEW ( main ± sub )</a:t>
                      </a:r>
                      <a:endParaRPr kumimoji="1" lang="ja-JP" altLang="en-US" sz="24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TlToBr w="12700" cmpd="sng">
                      <a:noFill/>
                      <a:prstDash val="solid"/>
                    </a:lnTlToBr>
                    <a:lnBlToTr w="12700" cmpd="sng">
                      <a:noFill/>
                      <a:prstDash val="solid"/>
                    </a:lnBlToTr>
                    <a:noFill/>
                  </a:tcPr>
                </a:tc>
                <a:tc rowSpan="4" hMerge="1">
                  <a:txBody>
                    <a:bodyPr/>
                    <a:lstStyle/>
                    <a:p>
                      <a:pPr algn="l"/>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ctr"/>
                      <a:r>
                        <a:rPr kumimoji="1" lang="en-US" altLang="ja-JP" sz="2400" dirty="0">
                          <a:solidFill>
                            <a:srgbClr val="FFC000"/>
                          </a:solidFill>
                        </a:rPr>
                        <a:t>15% ± 15%</a:t>
                      </a:r>
                      <a:endParaRPr kumimoji="1" lang="ja-JP" altLang="en-US" sz="2400" dirty="0">
                        <a:solidFill>
                          <a:srgbClr val="FFC000"/>
                        </a:solidFill>
                      </a:endParaRPr>
                    </a:p>
                  </a:txBody>
                  <a:tcPr>
                    <a:lnL w="12700" cmpd="sng">
                      <a:noFill/>
                    </a:lnL>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lnT w="12700" cap="flat" cmpd="sng" algn="ctr">
                      <a:solidFill>
                        <a:schemeClr val="bg1"/>
                      </a:solidFill>
                      <a:prstDash val="solid"/>
                      <a:round/>
                      <a:headEnd type="none" w="med" len="med"/>
                      <a:tailEnd type="none" w="med" len="med"/>
                    </a:lnT>
                  </a:tcPr>
                </a:tc>
                <a:tc>
                  <a:txBody>
                    <a:bodyPr/>
                    <a:lstStyle/>
                    <a:p>
                      <a:pPr algn="l"/>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54345008"/>
                  </a:ext>
                </a:extLst>
              </a:tr>
              <a:tr h="370840">
                <a:tc gridSpan="2" vMerge="1">
                  <a:txBody>
                    <a:bodyPr/>
                    <a:lstStyle/>
                    <a:p>
                      <a:endParaRPr kumimoji="1" lang="ja-JP" altLang="en-US" dirty="0"/>
                    </a:p>
                  </a:txBody>
                  <a:tcPr>
                    <a:lnT w="12700" cmpd="sng">
                      <a:noFill/>
                    </a:lnT>
                  </a:tcPr>
                </a:tc>
                <a:tc hMerge="1" vMerge="1">
                  <a:txBody>
                    <a:bodyPr/>
                    <a:lstStyle/>
                    <a:p>
                      <a:pPr algn="l"/>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400" dirty="0">
                          <a:solidFill>
                            <a:srgbClr val="FFC000"/>
                          </a:solidFill>
                        </a:rPr>
                        <a:t>15% ±   5%</a:t>
                      </a:r>
                      <a:endParaRPr kumimoji="1" lang="ja-JP" altLang="en-US" sz="2400" dirty="0">
                        <a:solidFill>
                          <a:srgbClr val="FFC000"/>
                        </a:solidFill>
                      </a:endParaRPr>
                    </a:p>
                  </a:txBody>
                  <a:tcPr>
                    <a:lnL w="12700" cmpd="sng">
                      <a:noFill/>
                    </a:lnL>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tc>
                  <a:txBody>
                    <a:bodyPr/>
                    <a:lstStyle/>
                    <a:p>
                      <a:pPr algn="l"/>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37116962"/>
                  </a:ext>
                </a:extLst>
              </a:tr>
              <a:tr h="370840">
                <a:tc gridSpan="2" vMerge="1">
                  <a:txBody>
                    <a:bodyPr/>
                    <a:lstStyle/>
                    <a:p>
                      <a:endParaRPr kumimoji="1" lang="ja-JP" altLang="en-US" dirty="0"/>
                    </a:p>
                  </a:txBody>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20% ± 10%</a:t>
                      </a:r>
                      <a:endParaRPr kumimoji="1" lang="ja-JP" altLang="en-US" sz="2400" dirty="0">
                        <a:solidFill>
                          <a:srgbClr val="FFC000"/>
                        </a:solidFill>
                      </a:endParaRPr>
                    </a:p>
                  </a:txBody>
                  <a:tcPr>
                    <a:lnL w="12700" cmpd="sng">
                      <a:noFill/>
                    </a:lnL>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86548621"/>
                  </a:ext>
                </a:extLst>
              </a:tr>
              <a:tr h="370840">
                <a:tc gridSpan="2" vMerge="1">
                  <a:txBody>
                    <a:bodyPr/>
                    <a:lstStyle/>
                    <a:p>
                      <a:endParaRPr kumimoji="1" lang="ja-JP" altLang="en-US" dirty="0"/>
                    </a:p>
                  </a:txBody>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20% ±   3%</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3149861190"/>
                  </a:ext>
                </a:extLst>
              </a:tr>
              <a:tr h="354421">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endParaRPr dirty="0"/>
                    </a:p>
                  </a:txBody>
                  <a:tcPr>
                    <a:lnL w="12700" cmpd="sng">
                      <a:noFill/>
                    </a:lnL>
                    <a:lnT w="12700" cmpd="sng">
                      <a:noFill/>
                    </a:lnT>
                  </a:tcPr>
                </a:tc>
                <a:tc hMerge="1">
                  <a:txBody>
                    <a:bodyPr/>
                    <a:lstStyle/>
                    <a:p>
                      <a:endParaRPr kumimoji="1" lang="ja-JP" altLang="en-US"/>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endParaRPr kumimoji="1" lang="ja-JP" altLang="en-US" dirty="0"/>
                    </a:p>
                  </a:txBody>
                  <a:tcPr>
                    <a:lnL w="12700" cmpd="sng">
                      <a:noFill/>
                    </a:lnL>
                  </a:tcPr>
                </a:tc>
                <a:tc hMerge="1">
                  <a:txBody>
                    <a:bodyPr/>
                    <a:lstStyle/>
                    <a:p>
                      <a:endParaRPr kumimoji="1" lang="ja-JP" altLang="en-US"/>
                    </a:p>
                  </a:txBody>
                  <a:tcPr/>
                </a:tc>
                <a:extLst>
                  <a:ext uri="{0D108BD9-81ED-4DB2-BD59-A6C34878D82A}">
                    <a16:rowId xmlns:a16="http://schemas.microsoft.com/office/drawing/2014/main" val="1078905525"/>
                  </a:ext>
                </a:extLst>
              </a:tr>
              <a:tr h="543197">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endParaRPr kumimoji="1" lang="ja-JP" altLang="en-US" dirty="0"/>
                    </a:p>
                  </a:txBody>
                  <a:tcPr>
                    <a:lnL w="12700" cmpd="sng">
                      <a:noFill/>
                    </a:lnL>
                  </a:tcPr>
                </a:tc>
                <a:tc hMerge="1">
                  <a:txBody>
                    <a:bodyPr/>
                    <a:lstStyle/>
                    <a:p>
                      <a:endParaRPr kumimoji="1" lang="ja-JP" altLang="en-US"/>
                    </a:p>
                  </a:txBody>
                  <a:tcPr/>
                </a:tc>
                <a:extLst>
                  <a:ext uri="{0D108BD9-81ED-4DB2-BD59-A6C34878D82A}">
                    <a16:rowId xmlns:a16="http://schemas.microsoft.com/office/drawing/2014/main" val="801338034"/>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4101005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4F7F5-BF6D-30C5-25C2-F2838B19BEFB}"/>
            </a:ext>
          </a:extLst>
        </p:cNvPr>
        <p:cNvGrpSpPr/>
        <p:nvPr/>
      </p:nvGrpSpPr>
      <p:grpSpPr>
        <a:xfrm>
          <a:off x="0" y="0"/>
          <a:ext cx="0" cy="0"/>
          <a:chOff x="0" y="0"/>
          <a:chExt cx="0" cy="0"/>
        </a:xfrm>
      </p:grpSpPr>
      <p:pic>
        <p:nvPicPr>
          <p:cNvPr id="36" name="図 35" descr="夜に光っている星&#10;&#10;自動的に生成された説明">
            <a:extLst>
              <a:ext uri="{FF2B5EF4-FFF2-40B4-BE49-F238E27FC236}">
                <a16:creationId xmlns:a16="http://schemas.microsoft.com/office/drawing/2014/main" id="{163701E5-4B16-1698-7559-3BCCE0CA72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93469" y="2057604"/>
            <a:ext cx="1219200" cy="1219200"/>
          </a:xfrm>
          <a:prstGeom prst="rect">
            <a:avLst/>
          </a:prstGeom>
        </p:spPr>
      </p:pic>
      <p:sp>
        <p:nvSpPr>
          <p:cNvPr id="2" name="タイトル 1">
            <a:extLst>
              <a:ext uri="{FF2B5EF4-FFF2-40B4-BE49-F238E27FC236}">
                <a16:creationId xmlns:a16="http://schemas.microsoft.com/office/drawing/2014/main" id="{A2A73A6F-F13C-0323-5942-15B7585D2ECA}"/>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83998F98-C7F6-CD08-9316-E6B78C2EC7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715" y="1950137"/>
            <a:ext cx="1219200" cy="1219200"/>
          </a:xfrm>
          <a:prstGeom prst="rect">
            <a:avLst/>
          </a:prstGeom>
        </p:spPr>
      </p:pic>
      <p:sp>
        <p:nvSpPr>
          <p:cNvPr id="15" name="テキスト ボックス 14">
            <a:extLst>
              <a:ext uri="{FF2B5EF4-FFF2-40B4-BE49-F238E27FC236}">
                <a16:creationId xmlns:a16="http://schemas.microsoft.com/office/drawing/2014/main" id="{5121ACD9-C347-112F-07C4-92F10010E804}"/>
              </a:ext>
            </a:extLst>
          </p:cNvPr>
          <p:cNvSpPr txBox="1"/>
          <p:nvPr/>
        </p:nvSpPr>
        <p:spPr>
          <a:xfrm>
            <a:off x="88976" y="3176898"/>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B3B69A3C-E9D5-8A26-F4AD-217FC9785731}"/>
              </a:ext>
            </a:extLst>
          </p:cNvPr>
          <p:cNvSpPr txBox="1"/>
          <p:nvPr/>
        </p:nvSpPr>
        <p:spPr>
          <a:xfrm>
            <a:off x="3968299" y="4909385"/>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55E5BF1C-B41E-97FD-69EB-4E8D84FAD6CA}"/>
              </a:ext>
            </a:extLst>
          </p:cNvPr>
          <p:cNvSpPr txBox="1"/>
          <p:nvPr/>
        </p:nvSpPr>
        <p:spPr>
          <a:xfrm>
            <a:off x="6108592" y="4943571"/>
            <a:ext cx="1576874" cy="646331"/>
          </a:xfrm>
          <a:prstGeom prst="rect">
            <a:avLst/>
          </a:prstGeom>
          <a:noFill/>
        </p:spPr>
        <p:txBody>
          <a:bodyPr wrap="square" rtlCol="0">
            <a:spAutoFit/>
          </a:bodyPr>
          <a:lstStyle/>
          <a:p>
            <a:pPr algn="ctr"/>
            <a:r>
              <a:rPr lang="ja-JP" altLang="en-US" dirty="0">
                <a:solidFill>
                  <a:schemeClr val="bg1"/>
                </a:solidFill>
              </a:rPr>
              <a:t>カウント測定</a:t>
            </a:r>
            <a:endParaRPr lang="en-US" altLang="ja-JP" dirty="0">
              <a:solidFill>
                <a:schemeClr val="bg1"/>
              </a:solidFill>
            </a:endParaRPr>
          </a:p>
          <a:p>
            <a:pPr algn="ctr"/>
            <a:r>
              <a:rPr kumimoji="1" lang="en-US" altLang="ja-JP" dirty="0">
                <a:solidFill>
                  <a:schemeClr val="bg1"/>
                </a:solidFill>
              </a:rPr>
              <a:t>VOI</a:t>
            </a:r>
            <a:r>
              <a:rPr kumimoji="1" lang="ja-JP" altLang="en-US" dirty="0">
                <a:solidFill>
                  <a:schemeClr val="bg1"/>
                </a:solidFill>
              </a:rPr>
              <a:t>＝</a:t>
            </a:r>
            <a:r>
              <a:rPr kumimoji="1" lang="en-US" altLang="ja-JP" dirty="0">
                <a:solidFill>
                  <a:schemeClr val="bg1"/>
                </a:solidFill>
              </a:rPr>
              <a:t>3㎝</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CDE83974-0FC3-CD0C-0CE2-519F6F0A763F}"/>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73992DEA-EA11-A5E0-BAC3-2CF1DD5387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55807" y="3524973"/>
            <a:ext cx="1219200" cy="1219200"/>
          </a:xfrm>
          <a:prstGeom prst="rect">
            <a:avLst/>
          </a:prstGeom>
        </p:spPr>
      </p:pic>
      <p:sp>
        <p:nvSpPr>
          <p:cNvPr id="6" name="矢印: 上向き折線 5">
            <a:extLst>
              <a:ext uri="{FF2B5EF4-FFF2-40B4-BE49-F238E27FC236}">
                <a16:creationId xmlns:a16="http://schemas.microsoft.com/office/drawing/2014/main" id="{C17E19BC-1E4E-32C5-9895-F1DF9B988907}"/>
              </a:ext>
            </a:extLst>
          </p:cNvPr>
          <p:cNvSpPr/>
          <p:nvPr/>
        </p:nvSpPr>
        <p:spPr>
          <a:xfrm rot="5400000">
            <a:off x="874485" y="3711271"/>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D186F7CC-8EDA-C351-B7E8-F98801493C0C}"/>
              </a:ext>
            </a:extLst>
          </p:cNvPr>
          <p:cNvSpPr txBox="1"/>
          <p:nvPr/>
        </p:nvSpPr>
        <p:spPr>
          <a:xfrm>
            <a:off x="979328" y="4760698"/>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sp>
        <p:nvSpPr>
          <p:cNvPr id="22" name="矢印: 右 21">
            <a:extLst>
              <a:ext uri="{FF2B5EF4-FFF2-40B4-BE49-F238E27FC236}">
                <a16:creationId xmlns:a16="http://schemas.microsoft.com/office/drawing/2014/main" id="{B9098DDF-B5A7-593C-97E1-C5DB0D8F97DE}"/>
              </a:ext>
            </a:extLst>
          </p:cNvPr>
          <p:cNvSpPr/>
          <p:nvPr/>
        </p:nvSpPr>
        <p:spPr>
          <a:xfrm>
            <a:off x="1665851" y="2448553"/>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BF1348-3905-6195-625B-1607F31B7D10}"/>
              </a:ext>
            </a:extLst>
          </p:cNvPr>
          <p:cNvSpPr txBox="1"/>
          <p:nvPr/>
        </p:nvSpPr>
        <p:spPr>
          <a:xfrm>
            <a:off x="3918667" y="2924490"/>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CEC1DADD-474E-0645-344D-FFB53D76007A}"/>
              </a:ext>
            </a:extLst>
          </p:cNvPr>
          <p:cNvSpPr/>
          <p:nvPr/>
        </p:nvSpPr>
        <p:spPr>
          <a:xfrm>
            <a:off x="3915149" y="1831223"/>
            <a:ext cx="159888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04D5DB8A-1529-5C53-3A96-E4975E9B1B6B}"/>
              </a:ext>
            </a:extLst>
          </p:cNvPr>
          <p:cNvSpPr/>
          <p:nvPr/>
        </p:nvSpPr>
        <p:spPr>
          <a:xfrm>
            <a:off x="6090033" y="1883182"/>
            <a:ext cx="1597657" cy="298448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DC416079-054B-8648-91AD-8FD465515B45}"/>
                  </a:ext>
                </a:extLst>
              </p:cNvPr>
              <p:cNvSpPr txBox="1"/>
              <p:nvPr/>
            </p:nvSpPr>
            <p:spPr>
              <a:xfrm>
                <a:off x="8342031" y="2771927"/>
                <a:ext cx="3760993" cy="1170129"/>
              </a:xfrm>
              <a:prstGeom prst="rect">
                <a:avLst/>
              </a:prstGeom>
              <a:noFill/>
            </p:spPr>
            <p:txBody>
              <a:bodyPr wrap="square" rtlCol="0">
                <a:spAutoFit/>
              </a:bodyPr>
              <a:lstStyle/>
              <a:p>
                <a:r>
                  <a:rPr kumimoji="1" lang="ja-JP" altLang="en-US" dirty="0">
                    <a:solidFill>
                      <a:schemeClr val="bg1"/>
                    </a:solidFill>
                  </a:rPr>
                  <a:t>相対誤差</a:t>
                </a:r>
                <a:r>
                  <a:rPr kumimoji="1" lang="en-US" altLang="ja-JP" dirty="0">
                    <a:solidFill>
                      <a:schemeClr val="bg1"/>
                    </a:solidFill>
                  </a:rPr>
                  <a:t>(%)</a:t>
                </a:r>
                <a:r>
                  <a:rPr kumimoji="1" lang="ja-JP" altLang="en-US" dirty="0">
                    <a:solidFill>
                      <a:schemeClr val="bg1"/>
                    </a:solidFill>
                  </a:rPr>
                  <a:t> </a:t>
                </a:r>
                <a:endParaRPr kumimoji="1" lang="en-US" altLang="ja-JP" dirty="0">
                  <a:solidFill>
                    <a:schemeClr val="bg1"/>
                  </a:solidFill>
                </a:endParaRPr>
              </a:p>
              <a:p>
                <a:endParaRPr kumimoji="1" lang="en-US" altLang="ja-JP" dirty="0">
                  <a:solidFill>
                    <a:schemeClr val="bg1"/>
                  </a:solidFill>
                </a:endParaRPr>
              </a:p>
              <a:p>
                <a:r>
                  <a:rPr lang="en-US" altLang="ja-JP" dirty="0">
                    <a:solidFill>
                      <a:schemeClr val="bg1"/>
                    </a:solidFill>
                  </a:rPr>
                  <a:t>    =  </a:t>
                </a:r>
                <a14:m>
                  <m:oMath xmlns:m="http://schemas.openxmlformats.org/officeDocument/2006/math">
                    <m:f>
                      <m:fPr>
                        <m:ctrlPr>
                          <a:rPr lang="en-US" altLang="ja-JP" i="1" smtClean="0">
                            <a:solidFill>
                              <a:schemeClr val="bg1"/>
                            </a:solidFill>
                            <a:latin typeface="Cambria Math" panose="02040503050406030204" pitchFamily="18" charset="0"/>
                          </a:rPr>
                        </m:ctrlPr>
                      </m:fPr>
                      <m:num>
                        <m:r>
                          <m:rPr>
                            <m:sty m:val="p"/>
                          </m:rPr>
                          <a:rPr lang="en-US" altLang="ja-JP" i="1">
                            <a:solidFill>
                              <a:schemeClr val="bg1"/>
                            </a:solidFill>
                            <a:latin typeface="Cambria Math" panose="02040503050406030204" pitchFamily="18" charset="0"/>
                          </a:rPr>
                          <m:t>TEW</m:t>
                        </m:r>
                        <m:r>
                          <a:rPr lang="ja-JP" altLang="en-US" i="1" smtClean="0">
                            <a:solidFill>
                              <a:schemeClr val="bg1"/>
                            </a:solidFill>
                            <a:latin typeface="Cambria Math" panose="02040503050406030204" pitchFamily="18" charset="0"/>
                          </a:rPr>
                          <m:t>補正</m:t>
                        </m:r>
                        <m:r>
                          <a:rPr lang="ja-JP" altLang="en-US" i="1">
                            <a:solidFill>
                              <a:schemeClr val="bg1"/>
                            </a:solidFill>
                            <a:latin typeface="Cambria Math" panose="02040503050406030204" pitchFamily="18" charset="0"/>
                          </a:rPr>
                          <m:t>画像</m:t>
                        </m:r>
                        <m:r>
                          <a:rPr lang="en-US" altLang="ja-JP" b="0" i="1" smtClean="0">
                            <a:solidFill>
                              <a:schemeClr val="bg1"/>
                            </a:solidFill>
                            <a:latin typeface="Cambria Math" panose="02040503050406030204" pitchFamily="18" charset="0"/>
                          </a:rPr>
                          <m:t>  </m:t>
                        </m:r>
                        <m:r>
                          <a:rPr lang="ja-JP" altLang="en-US" i="1">
                            <a:solidFill>
                              <a:schemeClr val="bg1"/>
                            </a:solidFill>
                            <a:latin typeface="Cambria Math" panose="02040503050406030204" pitchFamily="18" charset="0"/>
                          </a:rPr>
                          <m:t>−</m:t>
                        </m:r>
                        <m:r>
                          <a:rPr lang="en-US" altLang="ja-JP" b="0" i="1" smtClean="0">
                            <a:solidFill>
                              <a:schemeClr val="bg1"/>
                            </a:solidFill>
                            <a:latin typeface="Cambria Math" panose="02040503050406030204" pitchFamily="18" charset="0"/>
                          </a:rPr>
                          <m:t>  </m:t>
                        </m:r>
                        <m:r>
                          <a:rPr lang="ja-JP" altLang="en-US" i="1" smtClean="0">
                            <a:solidFill>
                              <a:schemeClr val="bg1"/>
                            </a:solidFill>
                            <a:latin typeface="Cambria Math" panose="02040503050406030204" pitchFamily="18" charset="0"/>
                          </a:rPr>
                          <m:t>一次</m:t>
                        </m:r>
                        <m:r>
                          <a:rPr lang="ja-JP" altLang="en-US" i="1">
                            <a:solidFill>
                              <a:schemeClr val="bg1"/>
                            </a:solidFill>
                            <a:latin typeface="Cambria Math" panose="02040503050406030204" pitchFamily="18" charset="0"/>
                          </a:rPr>
                          <m:t>光子</m:t>
                        </m:r>
                        <m:r>
                          <a:rPr lang="ja-JP" altLang="en-US" i="1" smtClean="0">
                            <a:solidFill>
                              <a:schemeClr val="bg1"/>
                            </a:solidFill>
                            <a:latin typeface="Cambria Math" panose="02040503050406030204" pitchFamily="18" charset="0"/>
                          </a:rPr>
                          <m:t>画像</m:t>
                        </m:r>
                      </m:num>
                      <m:den>
                        <m:r>
                          <a:rPr lang="ja-JP" altLang="en-US" i="1">
                            <a:solidFill>
                              <a:schemeClr val="bg1"/>
                            </a:solidFill>
                            <a:latin typeface="Cambria Math" panose="02040503050406030204" pitchFamily="18" charset="0"/>
                          </a:rPr>
                          <m:t>一次</m:t>
                        </m:r>
                        <m:r>
                          <a:rPr lang="ja-JP" altLang="en-US" i="1" smtClean="0">
                            <a:solidFill>
                              <a:schemeClr val="bg1"/>
                            </a:solidFill>
                            <a:latin typeface="Cambria Math" panose="02040503050406030204" pitchFamily="18" charset="0"/>
                          </a:rPr>
                          <m:t>光子</m:t>
                        </m:r>
                        <m:r>
                          <a:rPr lang="ja-JP" altLang="en-US" i="1">
                            <a:solidFill>
                              <a:schemeClr val="bg1"/>
                            </a:solidFill>
                            <a:latin typeface="Cambria Math" panose="02040503050406030204" pitchFamily="18" charset="0"/>
                          </a:rPr>
                          <m:t>画像</m:t>
                        </m:r>
                      </m:den>
                    </m:f>
                  </m:oMath>
                </a14:m>
                <a:endParaRPr kumimoji="1" lang="ja-JP" altLang="en-US" dirty="0">
                  <a:solidFill>
                    <a:schemeClr val="bg1"/>
                  </a:solidFill>
                </a:endParaRPr>
              </a:p>
            </p:txBody>
          </p:sp>
        </mc:Choice>
        <mc:Fallback xmlns="">
          <p:sp>
            <p:nvSpPr>
              <p:cNvPr id="28" name="テキスト ボックス 27">
                <a:extLst>
                  <a:ext uri="{FF2B5EF4-FFF2-40B4-BE49-F238E27FC236}">
                    <a16:creationId xmlns:a16="http://schemas.microsoft.com/office/drawing/2014/main" id="{DC416079-054B-8648-91AD-8FD465515B45}"/>
                  </a:ext>
                </a:extLst>
              </p:cNvPr>
              <p:cNvSpPr txBox="1">
                <a:spLocks noRot="1" noChangeAspect="1" noMove="1" noResize="1" noEditPoints="1" noAdjustHandles="1" noChangeArrowheads="1" noChangeShapeType="1" noTextEdit="1"/>
              </p:cNvSpPr>
              <p:nvPr/>
            </p:nvSpPr>
            <p:spPr>
              <a:xfrm>
                <a:off x="8342031" y="2771927"/>
                <a:ext cx="3760993" cy="1170129"/>
              </a:xfrm>
              <a:prstGeom prst="rect">
                <a:avLst/>
              </a:prstGeom>
              <a:blipFill>
                <a:blip r:embed="rId6"/>
                <a:stretch>
                  <a:fillRect l="-1297" t="-3125"/>
                </a:stretch>
              </a:blipFill>
            </p:spPr>
            <p:txBody>
              <a:bodyPr/>
              <a:lstStyle/>
              <a:p>
                <a:r>
                  <a:rPr lang="ja-JP" altLang="en-US">
                    <a:noFill/>
                  </a:rPr>
                  <a:t> </a:t>
                </a:r>
              </a:p>
            </p:txBody>
          </p:sp>
        </mc:Fallback>
      </mc:AlternateContent>
      <p:sp>
        <p:nvSpPr>
          <p:cNvPr id="29" name="矢印: 右 28">
            <a:extLst>
              <a:ext uri="{FF2B5EF4-FFF2-40B4-BE49-F238E27FC236}">
                <a16:creationId xmlns:a16="http://schemas.microsoft.com/office/drawing/2014/main" id="{DC3EEB4E-A8DA-3B6F-D5D7-94D78899D240}"/>
              </a:ext>
            </a:extLst>
          </p:cNvPr>
          <p:cNvSpPr/>
          <p:nvPr/>
        </p:nvSpPr>
        <p:spPr>
          <a:xfrm>
            <a:off x="5619231" y="2448553"/>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E383B09A-3884-7018-3A85-2387099BFF0C}"/>
              </a:ext>
            </a:extLst>
          </p:cNvPr>
          <p:cNvSpPr/>
          <p:nvPr/>
        </p:nvSpPr>
        <p:spPr>
          <a:xfrm>
            <a:off x="5601432" y="4077131"/>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29CE9C63-138A-40DE-5B3D-E6A4E2DD1815}"/>
              </a:ext>
            </a:extLst>
          </p:cNvPr>
          <p:cNvSpPr txBox="1"/>
          <p:nvPr/>
        </p:nvSpPr>
        <p:spPr>
          <a:xfrm>
            <a:off x="913313" y="5504485"/>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A00DC84F-41DD-2B99-1C87-17437ED165A3}"/>
              </a:ext>
            </a:extLst>
          </p:cNvPr>
          <p:cNvSpPr/>
          <p:nvPr/>
        </p:nvSpPr>
        <p:spPr>
          <a:xfrm>
            <a:off x="7871536" y="326822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08FA2DE8-8DCE-AE3D-13BC-88228151F5AF}"/>
              </a:ext>
            </a:extLst>
          </p:cNvPr>
          <p:cNvSpPr/>
          <p:nvPr/>
        </p:nvSpPr>
        <p:spPr>
          <a:xfrm>
            <a:off x="3381898" y="406371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4" name="図 33" descr="黒い背景に白い文字がある&#10;&#10;低い精度で自動的に生成された説明">
            <a:extLst>
              <a:ext uri="{FF2B5EF4-FFF2-40B4-BE49-F238E27FC236}">
                <a16:creationId xmlns:a16="http://schemas.microsoft.com/office/drawing/2014/main" id="{C9BE8F02-A65E-00FD-ED8C-4C0168C198E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110648" y="3497361"/>
            <a:ext cx="1219200" cy="1219200"/>
          </a:xfrm>
          <a:prstGeom prst="rect">
            <a:avLst/>
          </a:prstGeom>
        </p:spPr>
      </p:pic>
      <p:pic>
        <p:nvPicPr>
          <p:cNvPr id="37" name="図 36" descr="夜に光っている星&#10;&#10;自動的に生成された説明">
            <a:extLst>
              <a:ext uri="{FF2B5EF4-FFF2-40B4-BE49-F238E27FC236}">
                <a16:creationId xmlns:a16="http://schemas.microsoft.com/office/drawing/2014/main" id="{F9FFBC38-69D6-E0EB-7742-5A78D64D17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7429" y="2054844"/>
            <a:ext cx="1219200" cy="1219200"/>
          </a:xfrm>
          <a:prstGeom prst="rect">
            <a:avLst/>
          </a:prstGeom>
        </p:spPr>
      </p:pic>
      <p:pic>
        <p:nvPicPr>
          <p:cNvPr id="38" name="図 37" descr="黒い背景に白い文字がある&#10;&#10;低い精度で自動的に生成された説明">
            <a:extLst>
              <a:ext uri="{FF2B5EF4-FFF2-40B4-BE49-F238E27FC236}">
                <a16:creationId xmlns:a16="http://schemas.microsoft.com/office/drawing/2014/main" id="{8CA5BC74-7AA3-2689-A9A2-351512C245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04608" y="3494601"/>
            <a:ext cx="1219200" cy="1219200"/>
          </a:xfrm>
          <a:prstGeom prst="rect">
            <a:avLst/>
          </a:prstGeom>
        </p:spPr>
      </p:pic>
      <p:sp>
        <p:nvSpPr>
          <p:cNvPr id="13" name="楕円 12">
            <a:extLst>
              <a:ext uri="{FF2B5EF4-FFF2-40B4-BE49-F238E27FC236}">
                <a16:creationId xmlns:a16="http://schemas.microsoft.com/office/drawing/2014/main" id="{AF309525-DDED-268E-B949-547A2B84AF71}"/>
              </a:ext>
            </a:extLst>
          </p:cNvPr>
          <p:cNvSpPr/>
          <p:nvPr/>
        </p:nvSpPr>
        <p:spPr>
          <a:xfrm>
            <a:off x="6809943" y="2581729"/>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912249FD-63F2-5782-5C9B-A9D669C018FE}"/>
              </a:ext>
            </a:extLst>
          </p:cNvPr>
          <p:cNvSpPr/>
          <p:nvPr/>
        </p:nvSpPr>
        <p:spPr>
          <a:xfrm>
            <a:off x="6824880" y="4016973"/>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9842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kumimoji="1" lang="ja-JP" altLang="en-US" dirty="0">
                <a:solidFill>
                  <a:schemeClr val="bg1"/>
                </a:solidFill>
              </a:rPr>
              <a:t>線量測定</a:t>
            </a: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36473" y="5379166"/>
            <a:ext cx="11997683"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再構成画像とキャリブレーションファクターから線量を求めた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646331"/>
          </a:xfrm>
          <a:prstGeom prst="rect">
            <a:avLst/>
          </a:prstGeom>
          <a:noFill/>
        </p:spPr>
        <p:txBody>
          <a:bodyPr wrap="square" rtlCol="0">
            <a:spAutoFit/>
          </a:bodyPr>
          <a:lstStyle/>
          <a:p>
            <a:pPr algn="ctr"/>
            <a:r>
              <a:rPr kumimoji="1" lang="ja-JP" altLang="en-US" dirty="0">
                <a:solidFill>
                  <a:schemeClr val="bg1"/>
                </a:solidFill>
              </a:rPr>
              <a:t>円柱ファントム</a:t>
            </a:r>
            <a:endParaRPr kumimoji="1" lang="en-US" altLang="ja-JP" dirty="0">
              <a:solidFill>
                <a:schemeClr val="bg1"/>
              </a:solidFill>
            </a:endParaRPr>
          </a:p>
          <a:p>
            <a:pPr algn="ctr"/>
            <a:r>
              <a:rPr lang="ja-JP" altLang="en-US" dirty="0">
                <a:solidFill>
                  <a:schemeClr val="bg1"/>
                </a:solidFill>
              </a:rPr>
              <a:t>（合計</a:t>
            </a:r>
            <a:r>
              <a:rPr lang="en-US" altLang="ja-JP" dirty="0">
                <a:solidFill>
                  <a:schemeClr val="bg1"/>
                </a:solidFill>
              </a:rPr>
              <a:t>50MBq</a:t>
            </a:r>
            <a:r>
              <a:rPr lang="ja-JP" altLang="en-US" dirty="0">
                <a:solidFill>
                  <a:schemeClr val="bg1"/>
                </a:solidFill>
              </a:rPr>
              <a:t>）</a:t>
            </a:r>
            <a:endParaRPr kumimoji="1" lang="ja-JP" altLang="en-US" dirty="0">
              <a:solidFill>
                <a:schemeClr val="bg1"/>
              </a:solidFill>
            </a:endParaRPr>
          </a:p>
        </p:txBody>
      </p:sp>
    </p:spTree>
    <p:extLst>
      <p:ext uri="{BB962C8B-B14F-4D97-AF65-F5344CB8AC3E}">
        <p14:creationId xmlns:p14="http://schemas.microsoft.com/office/powerpoint/2010/main" val="692080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E5E19-91FC-1AC4-9625-7E37B0BC75C3}"/>
            </a:ext>
          </a:extLst>
        </p:cNvPr>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8881F267-7B50-72E8-3305-6491118D4036}"/>
              </a:ext>
            </a:extLst>
          </p:cNvPr>
          <p:cNvGraphicFramePr>
            <a:graphicFrameLocks noGrp="1"/>
          </p:cNvGraphicFramePr>
          <p:nvPr>
            <p:extLst>
              <p:ext uri="{D42A27DB-BD31-4B8C-83A1-F6EECF244321}">
                <p14:modId xmlns:p14="http://schemas.microsoft.com/office/powerpoint/2010/main" val="3747887643"/>
              </p:ext>
            </p:extLst>
          </p:nvPr>
        </p:nvGraphicFramePr>
        <p:xfrm>
          <a:off x="303298" y="1069303"/>
          <a:ext cx="11585404" cy="2834188"/>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502694">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502694">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48480">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48480">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48480">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48480">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F0E17EE7-053A-15B9-9BF6-FBBB991F4FDF}"/>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結果・考察</a:t>
            </a:r>
          </a:p>
        </p:txBody>
      </p:sp>
      <p:grpSp>
        <p:nvGrpSpPr>
          <p:cNvPr id="2" name="グループ化 1">
            <a:extLst>
              <a:ext uri="{FF2B5EF4-FFF2-40B4-BE49-F238E27FC236}">
                <a16:creationId xmlns:a16="http://schemas.microsoft.com/office/drawing/2014/main" id="{3E77BDF7-0E37-BBAF-2AC0-9649D343BE09}"/>
              </a:ext>
            </a:extLst>
          </p:cNvPr>
          <p:cNvGrpSpPr/>
          <p:nvPr/>
        </p:nvGrpSpPr>
        <p:grpSpPr>
          <a:xfrm>
            <a:off x="412744" y="4051495"/>
            <a:ext cx="4856230" cy="2530517"/>
            <a:chOff x="4280497" y="785614"/>
            <a:chExt cx="4891721" cy="2397683"/>
          </a:xfrm>
        </p:grpSpPr>
        <p:graphicFrame>
          <p:nvGraphicFramePr>
            <p:cNvPr id="4" name="グラフ 3">
              <a:extLst>
                <a:ext uri="{FF2B5EF4-FFF2-40B4-BE49-F238E27FC236}">
                  <a16:creationId xmlns:a16="http://schemas.microsoft.com/office/drawing/2014/main" id="{28DAF9AD-3920-2B3C-1D1D-36FF535D40BA}"/>
                </a:ext>
              </a:extLst>
            </p:cNvPr>
            <p:cNvGraphicFramePr>
              <a:graphicFrameLocks/>
            </p:cNvGraphicFramePr>
            <p:nvPr>
              <p:extLst>
                <p:ext uri="{D42A27DB-BD31-4B8C-83A1-F6EECF244321}">
                  <p14:modId xmlns:p14="http://schemas.microsoft.com/office/powerpoint/2010/main" val="1417502225"/>
                </p:ext>
              </p:extLst>
            </p:nvPr>
          </p:nvGraphicFramePr>
          <p:xfrm>
            <a:off x="4280497" y="785614"/>
            <a:ext cx="4891721" cy="2397683"/>
          </p:xfrm>
          <a:graphic>
            <a:graphicData uri="http://schemas.openxmlformats.org/drawingml/2006/chart">
              <c:chart xmlns:c="http://schemas.openxmlformats.org/drawingml/2006/chart" xmlns:r="http://schemas.openxmlformats.org/officeDocument/2006/relationships" r:id="rId3"/>
            </a:graphicData>
          </a:graphic>
        </p:graphicFrame>
        <p:grpSp>
          <p:nvGrpSpPr>
            <p:cNvPr id="5" name="グループ化 4">
              <a:extLst>
                <a:ext uri="{FF2B5EF4-FFF2-40B4-BE49-F238E27FC236}">
                  <a16:creationId xmlns:a16="http://schemas.microsoft.com/office/drawing/2014/main" id="{D8530097-17E5-F59E-3771-20DC89DFA8EC}"/>
                </a:ext>
              </a:extLst>
            </p:cNvPr>
            <p:cNvGrpSpPr/>
            <p:nvPr/>
          </p:nvGrpSpPr>
          <p:grpSpPr>
            <a:xfrm>
              <a:off x="5646247" y="1524613"/>
              <a:ext cx="898973" cy="247877"/>
              <a:chOff x="4910480" y="1500512"/>
              <a:chExt cx="898973" cy="247877"/>
            </a:xfrm>
          </p:grpSpPr>
          <p:sp>
            <p:nvSpPr>
              <p:cNvPr id="13" name="テキスト ボックス 10">
                <a:extLst>
                  <a:ext uri="{FF2B5EF4-FFF2-40B4-BE49-F238E27FC236}">
                    <a16:creationId xmlns:a16="http://schemas.microsoft.com/office/drawing/2014/main" id="{025C1E60-6EF5-C26E-6297-3A38F559530B}"/>
                  </a:ext>
                </a:extLst>
              </p:cNvPr>
              <p:cNvSpPr txBox="1"/>
              <p:nvPr/>
            </p:nvSpPr>
            <p:spPr>
              <a:xfrm>
                <a:off x="4910480" y="1500512"/>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14" name="直線矢印コネクタ 13">
                <a:extLst>
                  <a:ext uri="{FF2B5EF4-FFF2-40B4-BE49-F238E27FC236}">
                    <a16:creationId xmlns:a16="http://schemas.microsoft.com/office/drawing/2014/main" id="{6C0A226E-A404-3630-5813-04C49EAB1875}"/>
                  </a:ext>
                </a:extLst>
              </p:cNvPr>
              <p:cNvCxnSpPr>
                <a:cxnSpLocks/>
              </p:cNvCxnSpPr>
              <p:nvPr/>
            </p:nvCxnSpPr>
            <p:spPr>
              <a:xfrm>
                <a:off x="5467695" y="1616238"/>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6" name="テキスト ボックス 10">
              <a:extLst>
                <a:ext uri="{FF2B5EF4-FFF2-40B4-BE49-F238E27FC236}">
                  <a16:creationId xmlns:a16="http://schemas.microsoft.com/office/drawing/2014/main" id="{C069E380-C22D-BBA0-9663-D7A17B9210B0}"/>
                </a:ext>
              </a:extLst>
            </p:cNvPr>
            <p:cNvSpPr txBox="1"/>
            <p:nvPr/>
          </p:nvSpPr>
          <p:spPr>
            <a:xfrm>
              <a:off x="5577368" y="2420030"/>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7" name="直線矢印コネクタ 6">
              <a:extLst>
                <a:ext uri="{FF2B5EF4-FFF2-40B4-BE49-F238E27FC236}">
                  <a16:creationId xmlns:a16="http://schemas.microsoft.com/office/drawing/2014/main" id="{D60A698D-DAEA-7742-952B-FE6A38D0A3CF}"/>
                </a:ext>
              </a:extLst>
            </p:cNvPr>
            <p:cNvCxnSpPr>
              <a:cxnSpLocks/>
            </p:cNvCxnSpPr>
            <p:nvPr/>
          </p:nvCxnSpPr>
          <p:spPr>
            <a:xfrm>
              <a:off x="6267813" y="253494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テキスト ボックス 10">
              <a:extLst>
                <a:ext uri="{FF2B5EF4-FFF2-40B4-BE49-F238E27FC236}">
                  <a16:creationId xmlns:a16="http://schemas.microsoft.com/office/drawing/2014/main" id="{CA30CF9B-5CB9-1B69-6C68-CFADBC5ACDDD}"/>
                </a:ext>
              </a:extLst>
            </p:cNvPr>
            <p:cNvSpPr txBox="1"/>
            <p:nvPr/>
          </p:nvSpPr>
          <p:spPr>
            <a:xfrm>
              <a:off x="6921480" y="1334727"/>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0" name="直線矢印コネクタ 9">
              <a:extLst>
                <a:ext uri="{FF2B5EF4-FFF2-40B4-BE49-F238E27FC236}">
                  <a16:creationId xmlns:a16="http://schemas.microsoft.com/office/drawing/2014/main" id="{3F1E7E3B-FBC0-01EF-3CA7-14784F061753}"/>
                </a:ext>
              </a:extLst>
            </p:cNvPr>
            <p:cNvCxnSpPr>
              <a:cxnSpLocks/>
            </p:cNvCxnSpPr>
            <p:nvPr/>
          </p:nvCxnSpPr>
          <p:spPr>
            <a:xfrm flipH="1">
              <a:off x="6839713" y="1596331"/>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8BFC82F6-A9C8-A12A-39F5-09D018266C0B}"/>
                </a:ext>
              </a:extLst>
            </p:cNvPr>
            <p:cNvSpPr txBox="1"/>
            <p:nvPr/>
          </p:nvSpPr>
          <p:spPr>
            <a:xfrm>
              <a:off x="7679272" y="2043588"/>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12" name="直線矢印コネクタ 11">
              <a:extLst>
                <a:ext uri="{FF2B5EF4-FFF2-40B4-BE49-F238E27FC236}">
                  <a16:creationId xmlns:a16="http://schemas.microsoft.com/office/drawing/2014/main" id="{5F206355-D843-103E-6397-D2197D125DED}"/>
                </a:ext>
              </a:extLst>
            </p:cNvPr>
            <p:cNvCxnSpPr>
              <a:cxnSpLocks/>
            </p:cNvCxnSpPr>
            <p:nvPr/>
          </p:nvCxnSpPr>
          <p:spPr>
            <a:xfrm flipH="1">
              <a:off x="8105366" y="2226329"/>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15" name="グラフ 14">
            <a:extLst>
              <a:ext uri="{FF2B5EF4-FFF2-40B4-BE49-F238E27FC236}">
                <a16:creationId xmlns:a16="http://schemas.microsoft.com/office/drawing/2014/main" id="{2000F16C-4FAF-8D0F-54A4-E5C335B10B97}"/>
              </a:ext>
            </a:extLst>
          </p:cNvPr>
          <p:cNvGraphicFramePr>
            <a:graphicFrameLocks/>
          </p:cNvGraphicFramePr>
          <p:nvPr>
            <p:extLst>
              <p:ext uri="{D42A27DB-BD31-4B8C-83A1-F6EECF244321}">
                <p14:modId xmlns:p14="http://schemas.microsoft.com/office/powerpoint/2010/main" val="226747967"/>
              </p:ext>
            </p:extLst>
          </p:nvPr>
        </p:nvGraphicFramePr>
        <p:xfrm>
          <a:off x="5494094" y="4051495"/>
          <a:ext cx="1537351" cy="253051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6" name="グラフ 15">
            <a:extLst>
              <a:ext uri="{FF2B5EF4-FFF2-40B4-BE49-F238E27FC236}">
                <a16:creationId xmlns:a16="http://schemas.microsoft.com/office/drawing/2014/main" id="{987E1CF1-56F3-18CE-9CFC-5CD79FF4FB74}"/>
              </a:ext>
            </a:extLst>
          </p:cNvPr>
          <p:cNvGraphicFramePr>
            <a:graphicFrameLocks/>
          </p:cNvGraphicFramePr>
          <p:nvPr>
            <p:extLst>
              <p:ext uri="{D42A27DB-BD31-4B8C-83A1-F6EECF244321}">
                <p14:modId xmlns:p14="http://schemas.microsoft.com/office/powerpoint/2010/main" val="2610635256"/>
              </p:ext>
            </p:extLst>
          </p:nvPr>
        </p:nvGraphicFramePr>
        <p:xfrm>
          <a:off x="10307811" y="4051495"/>
          <a:ext cx="1537351" cy="2530517"/>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7" name="グラフ 16">
            <a:extLst>
              <a:ext uri="{FF2B5EF4-FFF2-40B4-BE49-F238E27FC236}">
                <a16:creationId xmlns:a16="http://schemas.microsoft.com/office/drawing/2014/main" id="{0A602CC3-E51A-3201-85F5-1AC56BC9C640}"/>
              </a:ext>
            </a:extLst>
          </p:cNvPr>
          <p:cNvGraphicFramePr>
            <a:graphicFrameLocks/>
          </p:cNvGraphicFramePr>
          <p:nvPr>
            <p:extLst>
              <p:ext uri="{D42A27DB-BD31-4B8C-83A1-F6EECF244321}">
                <p14:modId xmlns:p14="http://schemas.microsoft.com/office/powerpoint/2010/main" val="3184376029"/>
              </p:ext>
            </p:extLst>
          </p:nvPr>
        </p:nvGraphicFramePr>
        <p:xfrm>
          <a:off x="7098666" y="4051495"/>
          <a:ext cx="1537351" cy="2530517"/>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グラフ 17">
            <a:extLst>
              <a:ext uri="{FF2B5EF4-FFF2-40B4-BE49-F238E27FC236}">
                <a16:creationId xmlns:a16="http://schemas.microsoft.com/office/drawing/2014/main" id="{4B4A01A3-A97F-4BC5-F165-68F9F2C77C36}"/>
              </a:ext>
            </a:extLst>
          </p:cNvPr>
          <p:cNvGraphicFramePr>
            <a:graphicFrameLocks/>
          </p:cNvGraphicFramePr>
          <p:nvPr>
            <p:extLst>
              <p:ext uri="{D42A27DB-BD31-4B8C-83A1-F6EECF244321}">
                <p14:modId xmlns:p14="http://schemas.microsoft.com/office/powerpoint/2010/main" val="2851648379"/>
              </p:ext>
            </p:extLst>
          </p:nvPr>
        </p:nvGraphicFramePr>
        <p:xfrm>
          <a:off x="8703238" y="4051495"/>
          <a:ext cx="1537351" cy="2530517"/>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17433596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38391-30D4-5EDB-118A-C0937994B56F}"/>
            </a:ext>
          </a:extLst>
        </p:cNvPr>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80F0EE42-411C-13F6-202F-7F95DBF74BF1}"/>
              </a:ext>
            </a:extLst>
          </p:cNvPr>
          <p:cNvGraphicFramePr>
            <a:graphicFrameLocks noGrp="1"/>
          </p:cNvGraphicFramePr>
          <p:nvPr/>
        </p:nvGraphicFramePr>
        <p:xfrm>
          <a:off x="303298" y="1069303"/>
          <a:ext cx="11585404" cy="2834188"/>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502694">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502694">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48480">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48480">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48480">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48480">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52649053-1D7F-28BC-8353-F37666F06385}"/>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結果・考察</a:t>
            </a:r>
          </a:p>
        </p:txBody>
      </p:sp>
      <p:grpSp>
        <p:nvGrpSpPr>
          <p:cNvPr id="2" name="グループ化 1">
            <a:extLst>
              <a:ext uri="{FF2B5EF4-FFF2-40B4-BE49-F238E27FC236}">
                <a16:creationId xmlns:a16="http://schemas.microsoft.com/office/drawing/2014/main" id="{2AE7F610-521D-2AED-5731-DF73552B311E}"/>
              </a:ext>
            </a:extLst>
          </p:cNvPr>
          <p:cNvGrpSpPr/>
          <p:nvPr/>
        </p:nvGrpSpPr>
        <p:grpSpPr>
          <a:xfrm>
            <a:off x="412744" y="4051495"/>
            <a:ext cx="4856230" cy="2530517"/>
            <a:chOff x="4280497" y="785614"/>
            <a:chExt cx="4891721" cy="2397683"/>
          </a:xfrm>
        </p:grpSpPr>
        <p:graphicFrame>
          <p:nvGraphicFramePr>
            <p:cNvPr id="4" name="グラフ 3">
              <a:extLst>
                <a:ext uri="{FF2B5EF4-FFF2-40B4-BE49-F238E27FC236}">
                  <a16:creationId xmlns:a16="http://schemas.microsoft.com/office/drawing/2014/main" id="{C5022AE3-3F28-B9F7-5649-7903EA11AA68}"/>
                </a:ext>
              </a:extLst>
            </p:cNvPr>
            <p:cNvGraphicFramePr>
              <a:graphicFrameLocks/>
            </p:cNvGraphicFramePr>
            <p:nvPr/>
          </p:nvGraphicFramePr>
          <p:xfrm>
            <a:off x="4280497" y="785614"/>
            <a:ext cx="4891721" cy="2397683"/>
          </p:xfrm>
          <a:graphic>
            <a:graphicData uri="http://schemas.openxmlformats.org/drawingml/2006/chart">
              <c:chart xmlns:c="http://schemas.openxmlformats.org/drawingml/2006/chart" xmlns:r="http://schemas.openxmlformats.org/officeDocument/2006/relationships" r:id="rId3"/>
            </a:graphicData>
          </a:graphic>
        </p:graphicFrame>
        <p:grpSp>
          <p:nvGrpSpPr>
            <p:cNvPr id="5" name="グループ化 4">
              <a:extLst>
                <a:ext uri="{FF2B5EF4-FFF2-40B4-BE49-F238E27FC236}">
                  <a16:creationId xmlns:a16="http://schemas.microsoft.com/office/drawing/2014/main" id="{ADE1EE46-2E90-543C-87A8-9BFE66FD0A9E}"/>
                </a:ext>
              </a:extLst>
            </p:cNvPr>
            <p:cNvGrpSpPr/>
            <p:nvPr/>
          </p:nvGrpSpPr>
          <p:grpSpPr>
            <a:xfrm>
              <a:off x="5646247" y="1524613"/>
              <a:ext cx="898973" cy="247877"/>
              <a:chOff x="4910480" y="1500512"/>
              <a:chExt cx="898973" cy="247877"/>
            </a:xfrm>
          </p:grpSpPr>
          <p:sp>
            <p:nvSpPr>
              <p:cNvPr id="13" name="テキスト ボックス 10">
                <a:extLst>
                  <a:ext uri="{FF2B5EF4-FFF2-40B4-BE49-F238E27FC236}">
                    <a16:creationId xmlns:a16="http://schemas.microsoft.com/office/drawing/2014/main" id="{BDB09CAA-BFCD-0454-1F18-2E1D5BFF49EE}"/>
                  </a:ext>
                </a:extLst>
              </p:cNvPr>
              <p:cNvSpPr txBox="1"/>
              <p:nvPr/>
            </p:nvSpPr>
            <p:spPr>
              <a:xfrm>
                <a:off x="4910480" y="1500512"/>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14" name="直線矢印コネクタ 13">
                <a:extLst>
                  <a:ext uri="{FF2B5EF4-FFF2-40B4-BE49-F238E27FC236}">
                    <a16:creationId xmlns:a16="http://schemas.microsoft.com/office/drawing/2014/main" id="{F1AC2C97-7DB5-4850-E5ED-BDDDE15E4100}"/>
                  </a:ext>
                </a:extLst>
              </p:cNvPr>
              <p:cNvCxnSpPr>
                <a:cxnSpLocks/>
              </p:cNvCxnSpPr>
              <p:nvPr/>
            </p:nvCxnSpPr>
            <p:spPr>
              <a:xfrm>
                <a:off x="5467695" y="1616238"/>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6" name="テキスト ボックス 10">
              <a:extLst>
                <a:ext uri="{FF2B5EF4-FFF2-40B4-BE49-F238E27FC236}">
                  <a16:creationId xmlns:a16="http://schemas.microsoft.com/office/drawing/2014/main" id="{338817BB-5F15-0992-80E9-43DE535EA4EC}"/>
                </a:ext>
              </a:extLst>
            </p:cNvPr>
            <p:cNvSpPr txBox="1"/>
            <p:nvPr/>
          </p:nvSpPr>
          <p:spPr>
            <a:xfrm>
              <a:off x="5577368" y="2420030"/>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7" name="直線矢印コネクタ 6">
              <a:extLst>
                <a:ext uri="{FF2B5EF4-FFF2-40B4-BE49-F238E27FC236}">
                  <a16:creationId xmlns:a16="http://schemas.microsoft.com/office/drawing/2014/main" id="{BCE74C48-21B7-0EDB-6FCB-BF39D648C4C2}"/>
                </a:ext>
              </a:extLst>
            </p:cNvPr>
            <p:cNvCxnSpPr>
              <a:cxnSpLocks/>
            </p:cNvCxnSpPr>
            <p:nvPr/>
          </p:nvCxnSpPr>
          <p:spPr>
            <a:xfrm>
              <a:off x="6267813" y="253494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テキスト ボックス 10">
              <a:extLst>
                <a:ext uri="{FF2B5EF4-FFF2-40B4-BE49-F238E27FC236}">
                  <a16:creationId xmlns:a16="http://schemas.microsoft.com/office/drawing/2014/main" id="{B1FF50A1-6477-6216-B931-69E0B058EB94}"/>
                </a:ext>
              </a:extLst>
            </p:cNvPr>
            <p:cNvSpPr txBox="1"/>
            <p:nvPr/>
          </p:nvSpPr>
          <p:spPr>
            <a:xfrm>
              <a:off x="6921480" y="1334727"/>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0" name="直線矢印コネクタ 9">
              <a:extLst>
                <a:ext uri="{FF2B5EF4-FFF2-40B4-BE49-F238E27FC236}">
                  <a16:creationId xmlns:a16="http://schemas.microsoft.com/office/drawing/2014/main" id="{52B7054B-32C6-726E-1DCC-CC07F89DB8DB}"/>
                </a:ext>
              </a:extLst>
            </p:cNvPr>
            <p:cNvCxnSpPr>
              <a:cxnSpLocks/>
            </p:cNvCxnSpPr>
            <p:nvPr/>
          </p:nvCxnSpPr>
          <p:spPr>
            <a:xfrm flipH="1">
              <a:off x="6839713" y="1596331"/>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05B8B749-3F0D-B1CD-2492-C877E01E0687}"/>
                </a:ext>
              </a:extLst>
            </p:cNvPr>
            <p:cNvSpPr txBox="1"/>
            <p:nvPr/>
          </p:nvSpPr>
          <p:spPr>
            <a:xfrm>
              <a:off x="7679272" y="2043588"/>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12" name="直線矢印コネクタ 11">
              <a:extLst>
                <a:ext uri="{FF2B5EF4-FFF2-40B4-BE49-F238E27FC236}">
                  <a16:creationId xmlns:a16="http://schemas.microsoft.com/office/drawing/2014/main" id="{C7C43745-C7CF-ECB7-1DDB-12552C983DA4}"/>
                </a:ext>
              </a:extLst>
            </p:cNvPr>
            <p:cNvCxnSpPr>
              <a:cxnSpLocks/>
            </p:cNvCxnSpPr>
            <p:nvPr/>
          </p:nvCxnSpPr>
          <p:spPr>
            <a:xfrm flipH="1">
              <a:off x="8105366" y="2226329"/>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15" name="グラフ 14">
            <a:extLst>
              <a:ext uri="{FF2B5EF4-FFF2-40B4-BE49-F238E27FC236}">
                <a16:creationId xmlns:a16="http://schemas.microsoft.com/office/drawing/2014/main" id="{BEDB4208-E280-1FBF-E9DB-C0E3DBF960AB}"/>
              </a:ext>
            </a:extLst>
          </p:cNvPr>
          <p:cNvGraphicFramePr>
            <a:graphicFrameLocks/>
          </p:cNvGraphicFramePr>
          <p:nvPr/>
        </p:nvGraphicFramePr>
        <p:xfrm>
          <a:off x="5494094" y="4051495"/>
          <a:ext cx="1537351" cy="253051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6" name="グラフ 15">
            <a:extLst>
              <a:ext uri="{FF2B5EF4-FFF2-40B4-BE49-F238E27FC236}">
                <a16:creationId xmlns:a16="http://schemas.microsoft.com/office/drawing/2014/main" id="{C2F40386-5C4D-A78F-4ECA-40CF590652D8}"/>
              </a:ext>
            </a:extLst>
          </p:cNvPr>
          <p:cNvGraphicFramePr>
            <a:graphicFrameLocks/>
          </p:cNvGraphicFramePr>
          <p:nvPr/>
        </p:nvGraphicFramePr>
        <p:xfrm>
          <a:off x="10307811" y="4051495"/>
          <a:ext cx="1537351" cy="2530517"/>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7" name="グラフ 16">
            <a:extLst>
              <a:ext uri="{FF2B5EF4-FFF2-40B4-BE49-F238E27FC236}">
                <a16:creationId xmlns:a16="http://schemas.microsoft.com/office/drawing/2014/main" id="{BC3D8EEF-ED82-D980-7B2B-815A48205480}"/>
              </a:ext>
            </a:extLst>
          </p:cNvPr>
          <p:cNvGraphicFramePr>
            <a:graphicFrameLocks/>
          </p:cNvGraphicFramePr>
          <p:nvPr/>
        </p:nvGraphicFramePr>
        <p:xfrm>
          <a:off x="7098666" y="4051495"/>
          <a:ext cx="1537351" cy="2530517"/>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グラフ 17">
            <a:extLst>
              <a:ext uri="{FF2B5EF4-FFF2-40B4-BE49-F238E27FC236}">
                <a16:creationId xmlns:a16="http://schemas.microsoft.com/office/drawing/2014/main" id="{DF2B46E1-3D1B-01A2-1F84-8F54D3BBB649}"/>
              </a:ext>
            </a:extLst>
          </p:cNvPr>
          <p:cNvGraphicFramePr>
            <a:graphicFrameLocks/>
          </p:cNvGraphicFramePr>
          <p:nvPr/>
        </p:nvGraphicFramePr>
        <p:xfrm>
          <a:off x="8703238" y="4051495"/>
          <a:ext cx="1537351" cy="2530517"/>
        </p:xfrm>
        <a:graphic>
          <a:graphicData uri="http://schemas.openxmlformats.org/drawingml/2006/chart">
            <c:chart xmlns:c="http://schemas.openxmlformats.org/drawingml/2006/chart" xmlns:r="http://schemas.openxmlformats.org/officeDocument/2006/relationships" r:id="rId7"/>
          </a:graphicData>
        </a:graphic>
      </p:graphicFrame>
      <p:pic>
        <p:nvPicPr>
          <p:cNvPr id="19" name="図 18" descr="グラフ&#10;&#10;自動的に生成された説明">
            <a:extLst>
              <a:ext uri="{FF2B5EF4-FFF2-40B4-BE49-F238E27FC236}">
                <a16:creationId xmlns:a16="http://schemas.microsoft.com/office/drawing/2014/main" id="{0AA83474-F147-4FAE-BF22-E471BE89BC7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44101" y="1699454"/>
            <a:ext cx="2103797" cy="2103797"/>
          </a:xfrm>
          <a:prstGeom prst="rect">
            <a:avLst/>
          </a:prstGeom>
        </p:spPr>
      </p:pic>
    </p:spTree>
    <p:extLst>
      <p:ext uri="{BB962C8B-B14F-4D97-AF65-F5344CB8AC3E}">
        <p14:creationId xmlns:p14="http://schemas.microsoft.com/office/powerpoint/2010/main" val="359886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pPr marL="0" indent="0">
              <a:buNone/>
            </a:pPr>
            <a:r>
              <a:rPr lang="en-US" altLang="ja-JP" sz="2800" dirty="0"/>
              <a:t>LEHR</a:t>
            </a:r>
            <a:r>
              <a:rPr lang="ja-JP" altLang="en-US" sz="2800" dirty="0"/>
              <a:t>コリメータと</a:t>
            </a:r>
            <a:r>
              <a:rPr lang="en-US" altLang="ja-JP" sz="2800" baseline="30000" dirty="0"/>
              <a:t>123</a:t>
            </a:r>
            <a:r>
              <a:rPr lang="en-US" altLang="ja-JP" sz="2800" dirty="0"/>
              <a:t>I</a:t>
            </a:r>
            <a:r>
              <a:rPr lang="ja-JP" altLang="en-US" sz="2800" dirty="0"/>
              <a:t>による線量測定において、</a:t>
            </a:r>
            <a:r>
              <a:rPr lang="en-US" altLang="ja-JP" sz="2800" dirty="0">
                <a:solidFill>
                  <a:srgbClr val="FFC000"/>
                </a:solidFill>
              </a:rPr>
              <a:t>TEW</a:t>
            </a:r>
            <a:r>
              <a:rPr lang="ja-JP" altLang="en-US" sz="2800" dirty="0"/>
              <a:t>法が　</a:t>
            </a:r>
            <a:r>
              <a:rPr lang="ja-JP" altLang="en-US" sz="2800" dirty="0">
                <a:solidFill>
                  <a:srgbClr val="FFC000"/>
                </a:solidFill>
              </a:rPr>
              <a:t>キャリブレーションファクタ</a:t>
            </a:r>
            <a:r>
              <a:rPr lang="ja-JP" altLang="en-US" sz="2800" dirty="0"/>
              <a:t>と</a:t>
            </a:r>
            <a:r>
              <a:rPr lang="ja-JP" altLang="en-US" sz="2800" dirty="0">
                <a:solidFill>
                  <a:srgbClr val="FFC000"/>
                </a:solidFill>
              </a:rPr>
              <a:t>線量測定</a:t>
            </a:r>
            <a:r>
              <a:rPr lang="ja-JP" altLang="en-US" sz="2800" dirty="0"/>
              <a:t>に及ぼす影響を</a:t>
            </a:r>
            <a:r>
              <a:rPr lang="ja-JP" altLang="en-US" dirty="0"/>
              <a:t>評価した</a:t>
            </a:r>
            <a:endParaRPr lang="ja-JP" altLang="en-US" sz="2800" dirty="0"/>
          </a:p>
          <a:p>
            <a:pPr marL="0" indent="0">
              <a:buNone/>
            </a:pPr>
            <a:endParaRPr lang="en-US" altLang="ja-JP" dirty="0"/>
          </a:p>
          <a:p>
            <a:r>
              <a:rPr lang="ja-JP" altLang="en-US" dirty="0"/>
              <a:t>メインウィンドウは貫通光子に影響を与える</a:t>
            </a:r>
            <a:endParaRPr lang="en-US" altLang="ja-JP" dirty="0"/>
          </a:p>
          <a:p>
            <a:r>
              <a:rPr lang="ja-JP" altLang="en-US" dirty="0"/>
              <a:t>サブウインドが狭いとコンプトン散乱の成分を過補正する</a:t>
            </a:r>
            <a:endParaRPr lang="en-US" altLang="ja-JP" dirty="0"/>
          </a:p>
          <a:p>
            <a:r>
              <a:rPr lang="en-US" altLang="ja-JP" dirty="0"/>
              <a:t>main</a:t>
            </a:r>
            <a:r>
              <a:rPr lang="ja-JP" altLang="en-US" dirty="0"/>
              <a:t> </a:t>
            </a:r>
            <a:r>
              <a:rPr lang="en-US" altLang="ja-JP" dirty="0"/>
              <a:t>15%±sub15%</a:t>
            </a:r>
            <a:r>
              <a:rPr lang="ja-JP" altLang="en-US" dirty="0"/>
              <a:t>が精度が高い</a:t>
            </a: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4266079396"/>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653765625"/>
              </p:ext>
            </p:extLst>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3751384806"/>
              </p:ext>
            </p:extLst>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1373629972"/>
              </p:ext>
            </p:extLst>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969557865"/>
              </p:ext>
            </p:extLst>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3053482052"/>
              </p:ext>
            </p:extLst>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5595C155-58D9-2693-A643-1A04F0B3C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A3E401BB-53DE-17CA-7F70-87D6D493B8AC}"/>
              </a:ext>
            </a:extLst>
          </p:cNvPr>
          <p:cNvSpPr txBox="1"/>
          <p:nvPr/>
        </p:nvSpPr>
        <p:spPr>
          <a:xfrm>
            <a:off x="535131" y="5379166"/>
            <a:ext cx="11402397" cy="1077218"/>
          </a:xfrm>
          <a:prstGeom prst="rect">
            <a:avLst/>
          </a:prstGeom>
          <a:noFill/>
        </p:spPr>
        <p:txBody>
          <a:bodyPr wrap="square" rtlCol="0">
            <a:spAutoFit/>
          </a:bodyPr>
          <a:lstStyle/>
          <a:p>
            <a:pPr algn="ctr"/>
            <a:r>
              <a:rPr kumimoji="1" lang="ja-JP" altLang="en-US" sz="3200" dirty="0">
                <a:solidFill>
                  <a:srgbClr val="FFC000"/>
                </a:solidFill>
              </a:rPr>
              <a:t>メインウィンドウを小さくする　→　貫通光子成分</a:t>
            </a:r>
            <a:r>
              <a:rPr lang="ja-JP" altLang="en-US" sz="3200" dirty="0">
                <a:solidFill>
                  <a:srgbClr val="FFC000"/>
                </a:solidFill>
              </a:rPr>
              <a:t>は減少</a:t>
            </a:r>
            <a:endParaRPr kumimoji="1" lang="en-US" altLang="ja-JP" sz="3200" dirty="0">
              <a:solidFill>
                <a:srgbClr val="FFC000"/>
              </a:solidFill>
            </a:endParaRPr>
          </a:p>
          <a:p>
            <a:pPr algn="ctr"/>
            <a:r>
              <a:rPr lang="ja-JP" altLang="en-US" sz="3200" dirty="0">
                <a:solidFill>
                  <a:srgbClr val="FFC000"/>
                </a:solidFill>
              </a:rPr>
              <a:t>サブウィンドウを小さくする　→　コンプトン散乱の過補正</a:t>
            </a:r>
            <a:endParaRPr kumimoji="1" lang="ja-JP" altLang="en-US" sz="3200" dirty="0">
              <a:solidFill>
                <a:srgbClr val="FFC000"/>
              </a:solidFill>
            </a:endParaRPr>
          </a:p>
        </p:txBody>
      </p:sp>
    </p:spTree>
    <p:extLst>
      <p:ext uri="{BB962C8B-B14F-4D97-AF65-F5344CB8AC3E}">
        <p14:creationId xmlns:p14="http://schemas.microsoft.com/office/powerpoint/2010/main" val="21803880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A3702-1119-9389-B3AF-9A0194A114BB}"/>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1FAC33D8-D1E0-7E8B-F3B3-4F2E1EA762C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B52DC33C-2A9E-6B43-E2B1-DD8FBB427F50}"/>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BF15ACE4-C8B5-B57D-E633-BB407A5419A1}"/>
                </a:ext>
              </a:extLst>
            </p:cNvPr>
            <p:cNvGraphicFramePr>
              <a:graphicFrameLocks/>
            </p:cNvGraphicFramePr>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E20B0E62-5B3F-544C-9AD8-5A8D28709FA2}"/>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49F52E2C-584E-FA5D-8528-CC717B7A6B4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DC261968-2795-0D96-FC0B-67F82408D655}"/>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5E922756-67F8-BC01-AC08-E3CD6D3B947A}"/>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3E54E253-EB69-8134-79C9-E4AF3162C41A}"/>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2D45A8B8-F6C1-637E-BA2B-C7BA42385AAC}"/>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A89FFEC6-EDA1-46C2-7A05-B7F4E4DCB6EA}"/>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9FC369A4-45E9-7048-F9DA-889D1798C49A}"/>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674182EB-8F61-3325-667E-A4AE26ED4E2A}"/>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39409D5B-D31C-3580-5959-6DE8AF22E052}"/>
              </a:ext>
            </a:extLst>
          </p:cNvPr>
          <p:cNvGraphicFramePr>
            <a:graphicFrameLocks/>
          </p:cNvGraphicFramePr>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3DBAC972-3E3C-2691-62B7-A4966FA62B96}"/>
              </a:ext>
            </a:extLst>
          </p:cNvPr>
          <p:cNvGraphicFramePr>
            <a:graphicFrameLocks/>
          </p:cNvGraphicFramePr>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60BA03F6-C896-FB8E-637F-147B018AF496}"/>
              </a:ext>
            </a:extLst>
          </p:cNvPr>
          <p:cNvGraphicFramePr>
            <a:graphicFrameLocks/>
          </p:cNvGraphicFramePr>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C749CD0E-D78B-AABE-2B33-F2093225338B}"/>
              </a:ext>
            </a:extLst>
          </p:cNvPr>
          <p:cNvGraphicFramePr>
            <a:graphicFrameLocks/>
          </p:cNvGraphicFramePr>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790B2C45-F8F2-01CB-A176-7B594C3C0DBB}"/>
              </a:ext>
            </a:extLst>
          </p:cNvPr>
          <p:cNvGraphicFramePr>
            <a:graphicFrameLocks noGrp="1"/>
          </p:cNvGraphicFramePr>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071E439E-146F-B6CB-CDAE-E39BE0E53AA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6D62FD74-7C50-FA8E-249E-1FD7AFBFBFBD}"/>
              </a:ext>
            </a:extLst>
          </p:cNvPr>
          <p:cNvSpPr txBox="1"/>
          <p:nvPr/>
        </p:nvSpPr>
        <p:spPr>
          <a:xfrm>
            <a:off x="535132" y="5379166"/>
            <a:ext cx="11121736" cy="1077218"/>
          </a:xfrm>
          <a:prstGeom prst="rect">
            <a:avLst/>
          </a:prstGeom>
          <a:noFill/>
        </p:spPr>
        <p:txBody>
          <a:bodyPr wrap="square" rtlCol="0">
            <a:spAutoFit/>
          </a:bodyPr>
          <a:lstStyle/>
          <a:p>
            <a:pPr algn="ctr"/>
            <a:r>
              <a:rPr kumimoji="1" lang="ja-JP" altLang="en-US" sz="3200" dirty="0">
                <a:solidFill>
                  <a:srgbClr val="FFC000"/>
                </a:solidFill>
              </a:rPr>
              <a:t>メインウィンドウ　→　貫通光子成分に影響</a:t>
            </a:r>
            <a:endParaRPr kumimoji="1" lang="en-US" altLang="ja-JP" sz="3200" dirty="0">
              <a:solidFill>
                <a:srgbClr val="FFC000"/>
              </a:solidFill>
            </a:endParaRPr>
          </a:p>
          <a:p>
            <a:pPr algn="ctr"/>
            <a:r>
              <a:rPr lang="ja-JP" altLang="en-US" sz="3200" dirty="0">
                <a:solidFill>
                  <a:srgbClr val="FFC000"/>
                </a:solidFill>
              </a:rPr>
              <a:t>サブウィンドウ　→　コンプトン散乱成分に影響</a:t>
            </a:r>
            <a:endParaRPr kumimoji="1" lang="ja-JP" altLang="en-US" sz="3200" dirty="0">
              <a:solidFill>
                <a:srgbClr val="FFC000"/>
              </a:solidFill>
            </a:endParaRPr>
          </a:p>
        </p:txBody>
      </p:sp>
    </p:spTree>
    <p:extLst>
      <p:ext uri="{BB962C8B-B14F-4D97-AF65-F5344CB8AC3E}">
        <p14:creationId xmlns:p14="http://schemas.microsoft.com/office/powerpoint/2010/main" val="2447110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30659297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06F1-E5F7-502C-12A9-55C488955B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CFD1F6-CE83-D947-5E28-94CF7E63F772}"/>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84DE5FA9-3F28-0EFE-A018-D13C9B62E905}"/>
              </a:ext>
            </a:extLst>
          </p:cNvPr>
          <p:cNvGraphicFramePr>
            <a:graphicFrameLocks noGrp="1"/>
          </p:cNvGraphicFramePr>
          <p:nvPr>
            <p:ph idx="1"/>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4153654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193C0-C740-383A-831C-E4A510BE605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92EF2E-F8C9-9E29-DE68-45CB4539BBBA}"/>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564B0CD0-88B6-473F-89DA-2CAC3EADA56A}"/>
              </a:ext>
            </a:extLst>
          </p:cNvPr>
          <p:cNvGraphicFramePr>
            <a:graphicFrameLocks noGrp="1"/>
          </p:cNvGraphicFramePr>
          <p:nvPr>
            <p:ph idx="1"/>
          </p:nvPr>
        </p:nvGraphicFramePr>
        <p:xfrm>
          <a:off x="425450" y="1241425"/>
          <a:ext cx="11425687" cy="5579201"/>
        </p:xfrm>
        <a:graphic>
          <a:graphicData uri="http://schemas.openxmlformats.org/drawingml/2006/table">
            <a:tbl>
              <a:tblPr firstRow="1" bandRow="1">
                <a:tableStyleId>{5C22544A-7EE6-4342-B048-85BDC9FD1C3A}</a:tableStyleId>
              </a:tblPr>
              <a:tblGrid>
                <a:gridCol w="2289615">
                  <a:extLst>
                    <a:ext uri="{9D8B030D-6E8A-4147-A177-3AD203B41FA5}">
                      <a16:colId xmlns:a16="http://schemas.microsoft.com/office/drawing/2014/main" val="1942362006"/>
                    </a:ext>
                  </a:extLst>
                </a:gridCol>
                <a:gridCol w="2262872">
                  <a:extLst>
                    <a:ext uri="{9D8B030D-6E8A-4147-A177-3AD203B41FA5}">
                      <a16:colId xmlns:a16="http://schemas.microsoft.com/office/drawing/2014/main" val="3820735196"/>
                    </a:ext>
                  </a:extLst>
                </a:gridCol>
                <a:gridCol w="2471152">
                  <a:extLst>
                    <a:ext uri="{9D8B030D-6E8A-4147-A177-3AD203B41FA5}">
                      <a16:colId xmlns:a16="http://schemas.microsoft.com/office/drawing/2014/main" val="404953945"/>
                    </a:ext>
                  </a:extLst>
                </a:gridCol>
                <a:gridCol w="2139176">
                  <a:extLst>
                    <a:ext uri="{9D8B030D-6E8A-4147-A177-3AD203B41FA5}">
                      <a16:colId xmlns:a16="http://schemas.microsoft.com/office/drawing/2014/main" val="2244385460"/>
                    </a:ext>
                  </a:extLst>
                </a:gridCol>
                <a:gridCol w="2262872">
                  <a:extLst>
                    <a:ext uri="{9D8B030D-6E8A-4147-A177-3AD203B41FA5}">
                      <a16:colId xmlns:a16="http://schemas.microsoft.com/office/drawing/2014/main" val="2187376125"/>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75685848"/>
                  </a:ext>
                </a:extLst>
              </a:tr>
              <a:tr h="370840">
                <a:tc rowSpan="4" gridSpan="2">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 ( main ± sub )</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TlToBr w="12700" cmpd="sng">
                      <a:noFill/>
                      <a:prstDash val="solid"/>
                    </a:lnTlToBr>
                    <a:lnBlToTr w="12700" cmpd="sng">
                      <a:noFill/>
                      <a:prstDash val="solid"/>
                    </a:lnBlToTr>
                    <a:noFill/>
                  </a:tcPr>
                </a:tc>
                <a:tc rowSpan="4" hMerge="1">
                  <a:txBody>
                    <a:bodyPr/>
                    <a:lstStyle/>
                    <a:p>
                      <a:pPr algn="l"/>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rgbClr val="FFC000"/>
                          </a:solidFill>
                        </a:rPr>
                        <a:t>main15% ± sub15%</a:t>
                      </a:r>
                      <a:endParaRPr kumimoji="1" lang="ja-JP" altLang="en-US" sz="2000" dirty="0">
                        <a:solidFill>
                          <a:srgbClr val="FFC000"/>
                        </a:solidFill>
                      </a:endParaRPr>
                    </a:p>
                  </a:txBody>
                  <a:tcPr>
                    <a:lnL w="12700" cmpd="sng">
                      <a:noFill/>
                    </a:lnL>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lnT w="12700" cap="flat" cmpd="sng" algn="ctr">
                      <a:solidFill>
                        <a:schemeClr val="bg1"/>
                      </a:solidFill>
                      <a:prstDash val="solid"/>
                      <a:round/>
                      <a:headEnd type="none" w="med" len="med"/>
                      <a:tailEnd type="none" w="med" len="med"/>
                    </a:lnT>
                  </a:tcPr>
                </a:tc>
                <a:tc>
                  <a:txBody>
                    <a:bodyPr/>
                    <a:lstStyle/>
                    <a:p>
                      <a:pPr algn="l"/>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54345008"/>
                  </a:ext>
                </a:extLst>
              </a:tr>
              <a:tr h="370840">
                <a:tc gridSpan="2" vMerge="1">
                  <a:txBody>
                    <a:bodyPr/>
                    <a:lstStyle/>
                    <a:p>
                      <a:endParaRPr kumimoji="1" lang="ja-JP" altLang="en-US" dirty="0"/>
                    </a:p>
                  </a:txBody>
                  <a:tcPr>
                    <a:lnT w="12700" cmpd="sng">
                      <a:noFill/>
                    </a:lnT>
                  </a:tcPr>
                </a:tc>
                <a:tc hMerge="1" vMerge="1">
                  <a:txBody>
                    <a:bodyPr/>
                    <a:lstStyle/>
                    <a:p>
                      <a:pPr algn="l"/>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rgbClr val="FFC000"/>
                          </a:solidFill>
                        </a:rPr>
                        <a:t>main15% ± sub  5%</a:t>
                      </a:r>
                      <a:endParaRPr kumimoji="1" lang="ja-JP" altLang="en-US" sz="2000" dirty="0">
                        <a:solidFill>
                          <a:srgbClr val="FFC000"/>
                        </a:solidFill>
                      </a:endParaRPr>
                    </a:p>
                  </a:txBody>
                  <a:tcPr>
                    <a:lnL w="12700" cmpd="sng">
                      <a:noFill/>
                    </a:lnL>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tc>
                  <a:txBody>
                    <a:bodyPr/>
                    <a:lstStyle/>
                    <a:p>
                      <a:pPr algn="l"/>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37116962"/>
                  </a:ext>
                </a:extLst>
              </a:tr>
              <a:tr h="370840">
                <a:tc gridSpan="2" vMerge="1">
                  <a:txBody>
                    <a:bodyPr/>
                    <a:lstStyle/>
                    <a:p>
                      <a:endParaRPr kumimoji="1" lang="ja-JP" altLang="en-US" dirty="0"/>
                    </a:p>
                  </a:txBody>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main20% ± sub10%</a:t>
                      </a:r>
                      <a:endParaRPr kumimoji="1" lang="ja-JP" altLang="en-US" sz="2000" dirty="0">
                        <a:solidFill>
                          <a:srgbClr val="FFC000"/>
                        </a:solidFill>
                      </a:endParaRPr>
                    </a:p>
                  </a:txBody>
                  <a:tcPr>
                    <a:lnL w="12700" cmpd="sng">
                      <a:noFill/>
                    </a:lnL>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86548621"/>
                  </a:ext>
                </a:extLst>
              </a:tr>
              <a:tr h="370840">
                <a:tc gridSpan="2" vMerge="1">
                  <a:txBody>
                    <a:bodyPr/>
                    <a:lstStyle/>
                    <a:p>
                      <a:endParaRPr kumimoji="1" lang="ja-JP" altLang="en-US" dirty="0"/>
                    </a:p>
                  </a:txBody>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main20%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3149861190"/>
                  </a:ext>
                </a:extLst>
              </a:tr>
              <a:tr h="458561">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endParaRPr dirty="0"/>
                    </a:p>
                  </a:txBody>
                  <a:tcPr>
                    <a:lnL w="12700" cmpd="sng">
                      <a:noFill/>
                    </a:lnL>
                    <a:lnT w="12700" cmpd="sng">
                      <a:noFill/>
                    </a:lnT>
                  </a:tcPr>
                </a:tc>
                <a:tc hMerge="1">
                  <a:txBody>
                    <a:bodyPr/>
                    <a:lstStyle/>
                    <a:p>
                      <a:endParaRPr kumimoji="1" lang="ja-JP" altLang="en-US"/>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endParaRPr kumimoji="1" lang="ja-JP" altLang="en-US" dirty="0"/>
                    </a:p>
                  </a:txBody>
                  <a:tcPr>
                    <a:lnL w="12700" cmpd="sng">
                      <a:noFill/>
                    </a:lnL>
                  </a:tcPr>
                </a:tc>
                <a:tc hMerge="1">
                  <a:txBody>
                    <a:bodyPr/>
                    <a:lstStyle/>
                    <a:p>
                      <a:endParaRPr kumimoji="1" lang="ja-JP" altLang="en-US"/>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4">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hMerge="1">
                  <a:txBody>
                    <a:bodyPr/>
                    <a:lstStyle/>
                    <a:p>
                      <a:endParaRPr kumimoji="1" lang="ja-JP" altLang="en-US" dirty="0"/>
                    </a:p>
                  </a:txBody>
                  <a:tcPr>
                    <a:lnL w="12700" cmpd="sng">
                      <a:noFill/>
                    </a:lnL>
                  </a:tcPr>
                </a:tc>
                <a:tc hMerge="1">
                  <a:txBody>
                    <a:bodyPr/>
                    <a:lstStyle/>
                    <a:p>
                      <a:endParaRPr kumimoji="1" lang="ja-JP" altLang="en-US"/>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7736975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使用機器及び収集条件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1525915979"/>
              </p:ext>
            </p:extLst>
          </p:nvPr>
        </p:nvGraphicFramePr>
        <p:xfrm>
          <a:off x="521709" y="1107152"/>
          <a:ext cx="11341100" cy="5737274"/>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41083">
                <a:tc gridSpan="3">
                  <a:txBody>
                    <a:bodyPr/>
                    <a:lstStyle/>
                    <a:p>
                      <a:r>
                        <a:rPr kumimoji="1" lang="ja-JP" altLang="en-US" sz="2400" dirty="0">
                          <a:solidFill>
                            <a:schemeClr val="bg1"/>
                          </a:solidFill>
                        </a:rPr>
                        <a:t>モンテカルロシミュレーションコード：</a:t>
                      </a:r>
                      <a:r>
                        <a:rPr kumimoji="1" lang="en-US" altLang="ja-JP" sz="2400" dirty="0">
                          <a:solidFill>
                            <a:schemeClr val="bg1"/>
                          </a:solidFill>
                        </a:rPr>
                        <a:t>SIMIMD(Lund University)</a:t>
                      </a: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1468409"/>
                  </a:ext>
                </a:extLst>
              </a:tr>
              <a:tr h="404525">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r>
                        <a:rPr kumimoji="1" lang="en-US" altLang="ja-JP" sz="2400" dirty="0">
                          <a:solidFill>
                            <a:schemeClr val="bg1"/>
                          </a:solidFill>
                        </a:rPr>
                        <a:t>SPECT</a:t>
                      </a:r>
                      <a:r>
                        <a:rPr kumimoji="1" lang="ja-JP" altLang="en-US" sz="2400" dirty="0">
                          <a:solidFill>
                            <a:schemeClr val="bg1"/>
                          </a:solidFill>
                        </a:rPr>
                        <a:t>装置　</a:t>
                      </a:r>
                      <a:r>
                        <a:rPr kumimoji="1" lang="en-US" altLang="ja-JP" sz="2400" dirty="0">
                          <a:solidFill>
                            <a:schemeClr val="bg1"/>
                          </a:solidFill>
                        </a:rPr>
                        <a:t>SymbiaT16 </a:t>
                      </a:r>
                      <a:r>
                        <a:rPr kumimoji="1" lang="ja-JP" altLang="en-US" sz="2400" dirty="0">
                          <a:solidFill>
                            <a:schemeClr val="bg1"/>
                          </a:solidFill>
                        </a:rPr>
                        <a:t>＋ </a:t>
                      </a:r>
                      <a:r>
                        <a:rPr kumimoji="1" lang="en-US" altLang="ja-JP" sz="2400" dirty="0">
                          <a:solidFill>
                            <a:schemeClr val="bg1"/>
                          </a:solidFill>
                        </a:rPr>
                        <a:t>LEHR</a:t>
                      </a:r>
                      <a:r>
                        <a:rPr kumimoji="1" lang="ja-JP" altLang="en-US" sz="2400" dirty="0">
                          <a:solidFill>
                            <a:schemeClr val="bg1"/>
                          </a:solidFill>
                        </a:rPr>
                        <a:t>（</a:t>
                      </a:r>
                      <a:r>
                        <a:rPr kumimoji="1" lang="en-US" altLang="ja-JP" sz="2400" dirty="0">
                          <a:solidFill>
                            <a:schemeClr val="bg1"/>
                          </a:solidFill>
                        </a:rPr>
                        <a:t>Siemens</a:t>
                      </a:r>
                      <a:r>
                        <a:rPr kumimoji="1" lang="ja-JP" altLang="en-US" sz="2400" dirty="0">
                          <a:solidFill>
                            <a:schemeClr val="bg1"/>
                          </a:solidFill>
                        </a:rPr>
                        <a:t>）</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0790794"/>
                  </a:ext>
                </a:extLst>
              </a:tr>
              <a:tr h="614770">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indent="0">
                        <a:buNone/>
                      </a:pPr>
                      <a:r>
                        <a:rPr lang="ja-JP" altLang="en-US" sz="2400" baseline="0" dirty="0">
                          <a:solidFill>
                            <a:schemeClr val="bg1"/>
                          </a:solidFill>
                        </a:rPr>
                        <a:t>核種　　　　 </a:t>
                      </a:r>
                      <a:r>
                        <a:rPr lang="en-US" altLang="ja-JP" sz="2400" baseline="30000" dirty="0">
                          <a:solidFill>
                            <a:schemeClr val="bg1"/>
                          </a:solidFill>
                        </a:rPr>
                        <a:t>123</a:t>
                      </a:r>
                      <a:r>
                        <a:rPr lang="en-US" altLang="ja-JP" sz="2400" dirty="0">
                          <a:solidFill>
                            <a:schemeClr val="bg1"/>
                          </a:solidFill>
                        </a:rPr>
                        <a:t>I(γ</a:t>
                      </a:r>
                      <a:r>
                        <a:rPr lang="ja-JP" altLang="en-US" sz="2400" dirty="0">
                          <a:solidFill>
                            <a:schemeClr val="bg1"/>
                          </a:solidFill>
                        </a:rPr>
                        <a:t>線エネルギー </a:t>
                      </a:r>
                      <a:r>
                        <a:rPr lang="en-US" altLang="ja-JP" sz="2400" dirty="0">
                          <a:solidFill>
                            <a:schemeClr val="bg1"/>
                          </a:solidFill>
                        </a:rPr>
                        <a:t>158.97keV  83%)</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0137300"/>
                  </a:ext>
                </a:extLst>
              </a:tr>
              <a:tr h="441083">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キャリブレーションファクター</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468863">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ctr"/>
                      <a:r>
                        <a:rPr kumimoji="1" lang="en-US" altLang="ja-JP" sz="2400" dirty="0">
                          <a:solidFill>
                            <a:srgbClr val="FFC000"/>
                          </a:solidFill>
                        </a:rPr>
                        <a:t>main 15%  ±  sub 15%</a:t>
                      </a:r>
                      <a:endParaRPr kumimoji="1" lang="ja-JP" altLang="en-US" sz="24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468863">
                <a:tc vMerge="1">
                  <a:txBody>
                    <a:bodyPr/>
                    <a:lstStyle/>
                    <a:p>
                      <a:endParaRPr kumimoji="1" lang="ja-JP" altLang="en-US" dirty="0"/>
                    </a:p>
                  </a:txBody>
                  <a:tcPr>
                    <a:lnT w="12700" cmpd="sng">
                      <a:noFill/>
                    </a:lnT>
                  </a:tcPr>
                </a:tc>
                <a:tc gridSpan="2">
                  <a:txBody>
                    <a:bodyPr/>
                    <a:lstStyle/>
                    <a:p>
                      <a:pPr algn="ctr"/>
                      <a:r>
                        <a:rPr kumimoji="1" lang="en-US" altLang="ja-JP" sz="2400" dirty="0">
                          <a:solidFill>
                            <a:srgbClr val="FFC000"/>
                          </a:solidFill>
                        </a:rPr>
                        <a:t>main 15%  ±  sub   5%</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 10%</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a:t>
                      </a:r>
                      <a:r>
                        <a:rPr kumimoji="1" lang="ja-JP" altLang="en-US" sz="2400" dirty="0">
                          <a:solidFill>
                            <a:srgbClr val="FFC000"/>
                          </a:solidFill>
                        </a:rPr>
                        <a:t>   </a:t>
                      </a:r>
                      <a:r>
                        <a:rPr kumimoji="1" lang="en-US" altLang="ja-JP" sz="2400" dirty="0">
                          <a:solidFill>
                            <a:srgbClr val="FFC000"/>
                          </a:solidFill>
                        </a:rPr>
                        <a:t>3%</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468863">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468863">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SPECT( 72views *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468863">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468863">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15786</TotalTime>
  <Words>8993</Words>
  <Application>Microsoft Office PowerPoint</Application>
  <PresentationFormat>ワイド画面</PresentationFormat>
  <Paragraphs>1044</Paragraphs>
  <Slides>39</Slides>
  <Notes>30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39</vt:i4>
      </vt:variant>
    </vt:vector>
  </HeadingPairs>
  <TitlesOfParts>
    <vt:vector size="46" baseType="lpstr">
      <vt:lpstr>游ゴシック</vt:lpstr>
      <vt:lpstr>游ゴシック Light</vt:lpstr>
      <vt:lpstr>Aptos Narrow</vt:lpstr>
      <vt:lpstr>Arial</vt:lpstr>
      <vt:lpstr>Cambria Math</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vt:lpstr>
      <vt:lpstr>収集条件および再構成条件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lpstr>使用機器</vt:lpstr>
      <vt:lpstr>収集条件および再構成条件</vt:lpstr>
      <vt:lpstr>収集条件および再構成条件</vt:lpstr>
      <vt:lpstr>使用機器及び収集条件</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44</cp:revision>
  <dcterms:created xsi:type="dcterms:W3CDTF">2024-10-02T12:05:53Z</dcterms:created>
  <dcterms:modified xsi:type="dcterms:W3CDTF">2024-10-31T21:51:19Z</dcterms:modified>
</cp:coreProperties>
</file>